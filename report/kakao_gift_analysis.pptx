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카카오톡 선물하기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EE500"/>
                </a:solidFill>
                <a:latin typeface="맑은 고딕"/>
              </a:rPr>
              <a:t>CRM 분석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4F6"/>
                </a:solidFill>
                <a:latin typeface="맑은 고딕"/>
              </a:rPr>
              <a:t>RFM 세그멘테이션 · LTV 코호트 · Viral Loop 분석 → CRM 액션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4572000" cy="27432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분석 기간: 2023-01 ~ 2024-12   |   데이터: 57만 행, 5개 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2026-04-04   |   Portfolio Project by Soyoung Yun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2743200" cy="118872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852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₩137.2억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총 GMV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5212080"/>
            <a:ext cx="2743200" cy="118872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52852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+31%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5806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YoY 성장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5212080"/>
            <a:ext cx="2743200" cy="118872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52852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K-factor
3.95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5806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바이럴 성장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분석은 5개 Layer로 구성 — GMV부터 캠페인 ROAS까지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핵심 KPI: 총 GMV ₩137.2억 | K-factor 3.95 | Champions ROAS 1,665배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68580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EDA &amp; 시즌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00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GMV 트렌드 + YoY +31% + 카테고리 믹스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40864"/>
            <a:ext cx="73152" cy="68580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865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RFM 세그멘테이션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694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11개 세그먼트 | Champions 3.2% = GMV 9.3%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10128"/>
            <a:ext cx="73152" cy="6858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55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02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LTV 코호트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5387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1개월 Retention 15.1% | 12개월 LTV 2.7배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9392"/>
            <a:ext cx="73152" cy="6858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25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Viral Loop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5079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K-factor 3.95 | Reciprocity 67.6%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48656"/>
            <a:ext cx="731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943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412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CRM 캠페인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7725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세그먼트별 ROAS | 3대 액션 플랜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1417320"/>
            <a:ext cx="283464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417320"/>
            <a:ext cx="64008" cy="109728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9BA74"/>
                </a:solidFill>
                <a:latin typeface="맑은 고딕"/>
              </a:rPr>
              <a:t>₩137.2억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총 GMV (2년)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880360"/>
            <a:ext cx="283464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2880360"/>
            <a:ext cx="64008" cy="109728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971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51FF"/>
                </a:solidFill>
                <a:latin typeface="맑은 고딕"/>
              </a:rPr>
              <a:t>K=3.95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566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바이럴 K-factor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4343400"/>
            <a:ext cx="283464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20" y="4343400"/>
            <a:ext cx="64008" cy="109728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1,665x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Champions ROAS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57만 행, 5개 테이블, 2년 분석 — 선물하기 고유 구조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발신자(구매자) ≠ 수신자 구조 + Viral Loop 추적이 이 분석의 핵심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103120" cy="73152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51FF"/>
                </a:solidFill>
                <a:latin typeface="맑은 고딕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50,000명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유저 프로필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371600"/>
            <a:ext cx="2103120" cy="73152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59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BA74"/>
                </a:solidFill>
                <a:latin typeface="맑은 고딕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59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200,011건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59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발신 기준 주문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EE500"/>
                </a:solidFill>
                <a:latin typeface="맑은 고딕"/>
              </a:rPr>
              <a:t>gift_receipts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200,011건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수신 기록 (1:1)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19" y="1371600"/>
            <a:ext cx="2103120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799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88건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CRM 캠페인 기획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371600"/>
            <a:ext cx="2103120" cy="7315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5F"/>
                </a:solidFill>
                <a:latin typeface="맑은 고딕"/>
              </a:rPr>
              <a:t>campaign_logs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339,233건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오픈/클릭/구매 로그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분석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2023-01-01 ~ 2024-12-31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19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총 행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19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약 57만 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RFM 윈도우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최근 12개월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19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59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코호트 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59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24개 (월별)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캠페인 비용 가정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15원/건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분석 환경: Python (pandas, scipy, matplotlib) + BigQuery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2024년 GMV ₩137.2억, YoY +31% — 1월 시즌이 연중 최고점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2024-01 GMV ₩10.2억 (피크) vs 2023-06 ₩2.9억 (저점) — 계절성이 사업 리듬을 결정</a:t>
            </a:r>
          </a:p>
        </p:txBody>
      </p:sp>
      <p:pic>
        <p:nvPicPr>
          <p:cNvPr id="7" name="Picture 6" descr="chart_01_gm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300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월별 GMV = 해당 월 완료 주문 기준 | YoY = 2024년 12개월 평균 vs 2023년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빼빼로데이 ×12 폭증, beauty GMV 1위 — 시즌·카테고리 집중도 극심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시즌 이벤트 Top3(빼빼로·발렌타인·어버이날) 집중 운영 + voucher 단가 업셀링 병행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시즌 GMV 부스트 배율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64008" cy="59436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빼빼로데이 11/11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013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EE500"/>
                </a:solidFill>
                <a:latin typeface="맑은 고딕"/>
              </a:rPr>
              <a:t>×12.0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41448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41448"/>
            <a:ext cx="64008" cy="59436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78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어버이날 5/8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5117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9BA74"/>
                </a:solidFill>
                <a:latin typeface="맑은 고딕"/>
              </a:rPr>
              <a:t>×3.5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64008" cy="59436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28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설날·발렌타인 1~2월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0098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251FF"/>
                </a:solidFill>
                <a:latin typeface="맑은 고딕"/>
              </a:rPr>
              <a:t>×3.0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4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41064"/>
            <a:ext cx="64008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78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스승의날·크리스마스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05079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B7280"/>
                </a:solidFill>
                <a:latin typeface="맑은 고딕"/>
              </a:rPr>
              <a:t>×2.5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90872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690872"/>
            <a:ext cx="64008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블랙프라이데이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8006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B7280"/>
                </a:solidFill>
                <a:latin typeface="맑은 고딕"/>
              </a:rPr>
              <a:t>×1.8</a:t>
            </a:r>
          </a:p>
        </p:txBody>
      </p:sp>
      <p:pic>
        <p:nvPicPr>
          <p:cNvPr id="28" name="Picture 27" descr="chart_02_categor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6309360" cy="4389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유저 분포: 여성 61.8% | 30대 37.9% | gift_received 채널 1위(40%)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11개 RFM 세그먼트 — 유저 분포와 GMV 기여도가 역전되는 세그먼트 존재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Hibernating이 유저 23.2%지만 GMV 11.7%, Champions는 유저 3.2%로 GMV 9.3% 창출</a:t>
            </a:r>
          </a:p>
        </p:txBody>
      </p:sp>
      <p:pic>
        <p:nvPicPr>
          <p:cNvPr id="7" name="Picture 6" descr="chart_03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RFM 분석 기간 2024-01-01~2024-12-31 | 분석 대상 44,713명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Champions 1,438명 — 평균 구매액 ₩499K, GMV 기여 9.3%의 최고가치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Champions 이탈 1명 = ₩499,416 GMV 손실 → VIP 선제 관리가 최우선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1,438명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Champions 유저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전체 3.2%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₩499,416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평균 구매액(M)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Loyal 대비 +119%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₩7.2억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총 GMV 기여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전체 GMV의 9.3%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ROAS
1,665배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캠페인 효율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비용 15원/건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11430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6576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유저 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576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GMV 비중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657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평균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41648"/>
            <a:ext cx="11430000" cy="438912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330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Champions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330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1,438명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1330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9.3%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1330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₩499,416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17136"/>
            <a:ext cx="11430000" cy="438912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0857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Loyal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8,708명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608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₩228,300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92624"/>
            <a:ext cx="11430000" cy="43891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0840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At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0840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3,755명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0840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11.8%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084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₩242,600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68112"/>
            <a:ext cx="114300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5595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Need Attention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5595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5,818명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5595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18.2%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5595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₩240,975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12개월 누적 LTV ₩203,169 — 첫 달 대비 2.7배, 시즌 스파이크 뚜렷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1개월 Retention 15.1%지만 이탈 유저도 시즌 때 귀환 → 장기 LTV 관리가 단기 전환보다 중요</a:t>
            </a:r>
          </a:p>
        </p:txBody>
      </p:sp>
      <p:pic>
        <p:nvPicPr>
          <p:cNvPr id="7" name="Picture 6" descr="chart_04_cohor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코호트 = 첫 구매월 기준 | LTV = 1인당 평균 누적 구매액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K-factor 3.95 — 선물 1건이 평균 4명의 신규 구매자를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선물 수신이 신규 유저 유입 채널 1위(40%) — 바이럴이 유일한 무비용 성장 엔진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114800" cy="4892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K-factor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EE500"/>
                </a:solidFill>
                <a:latin typeface="맑은 고딕"/>
              </a:rPr>
              <a:t>3.95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9BA74"/>
                </a:solidFill>
                <a:latin typeface="맑은 고딕"/>
              </a:rPr>
              <a:t>K &gt; 1 = 바이럴 성장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Bootstrap CI: [3.87, 4.02]
1,000회 반복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K = 발신자당 초대 수 × 전환율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EE500"/>
                </a:solidFill>
                <a:latin typeface="맑은 고딕"/>
              </a:rPr>
              <a:t>= 4.02명 × 98.1% = 3.948</a:t>
            </a:r>
          </a:p>
        </p:txBody>
      </p:sp>
      <p:pic>
        <p:nvPicPr>
          <p:cNvPr id="14" name="Picture 13" descr="chart_05_viral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7315200" cy="48920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5488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58.4%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63.3%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67.6%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98.1%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Gen 1(바이럴 1세대) GMV ₩61.7억 &gt; Gen 0(원조) ₩47.8억 — 바이럴 유저 품질이 더 높다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선물을 받은 후 보내는 사람이 원래 고객보다 더 많이, 더 자주 구매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8713327" cy="9601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Gen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최초 유입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490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유저 17,448명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GMV ₩47.8억 (35.7%)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11247120" cy="96012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Gen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1차 바이럴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79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유저 22,444명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79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GMV ₩61.7억 (46.1%)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4283749" cy="96012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679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Gen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2차 바이럴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867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유저 8,581명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679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GMV ₩23.5억 (17.6%)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783834" cy="9601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566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Gen 3+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3차+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056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유저 1,527명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56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GMV ₩4.3억 (3.2%)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Referral Generation = gift_received 채널 기준 바이럴 세대 추적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캠페인 Open Rate 53.7% 우수 — Purchase CVR 0.53%가 최적화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at_risk CVR 0.62%, promising CVR 0.81% — 넛지 대상 세그먼트에서 전환 효율 높음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64008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9BA74"/>
                </a:solidFill>
                <a:latin typeface="맑은 고딕"/>
              </a:rPr>
              <a:t>53.7%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Open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6400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51FF"/>
                </a:solidFill>
                <a:latin typeface="맑은 고딕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Click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5A5F"/>
                </a:solidFill>
                <a:latin typeface="맑은 고딕"/>
              </a:rPr>
              <a:t>1.0%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Block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651760" cy="6400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E500"/>
                </a:solidFill>
                <a:latin typeface="맑은 고딕"/>
              </a:rPr>
              <a:t>0.53%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Purchase CVR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43200"/>
            <a:ext cx="1143000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8529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Open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529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Click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8529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Purchase CVR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46120"/>
            <a:ext cx="1143000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558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at_risk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0.62%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49039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5876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promising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8587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55.2%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587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587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BA74"/>
                </a:solidFill>
                <a:latin typeface="맑은 고딕"/>
              </a:rPr>
              <a:t>0.81%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251960"/>
            <a:ext cx="1143000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616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champions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361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52.6%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61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4.7%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361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맑은 고딕"/>
              </a:rPr>
              <a:t>0.47%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75488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86460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need_attention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52.3%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64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8.0%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864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맑은 고딕"/>
              </a:rPr>
              <a:t>0.48%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257800"/>
            <a:ext cx="1143000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3675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new_customers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367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53.9%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67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367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0.55%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76072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8704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loyal_customers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870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52.1%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70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870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맑은 고딕"/>
              </a:rPr>
              <a:t>0.44%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세그먼트별 ROAS 최대 1,665배 — 3개 우선 세그먼트로 GMV 최대화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Champions 보호 + At Risk 이탈 방지 + Need Attention 윈백 = 3대 CRM 전략</a:t>
            </a:r>
          </a:p>
        </p:txBody>
      </p:sp>
      <p:pic>
        <p:nvPicPr>
          <p:cNvPr id="7" name="Picture 6" descr="chart_06_roa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68580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23760" y="1325880"/>
            <a:ext cx="4663440" cy="1645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325880"/>
            <a:ext cx="64008" cy="164592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1. 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3990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EE500"/>
                </a:solidFill>
                <a:latin typeface="맑은 고딕"/>
              </a:rPr>
              <a:t>ROAS 1,665x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VIP 얼리버드 쿠폰
시즌 선착순 혜택 선제 발송
카카오 친구톡 (고도 개인화)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651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EE500"/>
                </a:solidFill>
                <a:latin typeface="맑은 고딕"/>
              </a:rPr>
              <a:t>예상 수익 3,591만원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154680"/>
            <a:ext cx="4663440" cy="1645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3154680"/>
            <a:ext cx="64008" cy="1645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2278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2. At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227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5A5F"/>
                </a:solidFill>
                <a:latin typeface="맑은 고딕"/>
              </a:rPr>
              <a:t>ROAS 809x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11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감성 넛지 + 관계 기반 추천
'소중한 분들 챙기세요'
이탈 방지 최우선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480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A5F"/>
                </a:solidFill>
                <a:latin typeface="맑은 고딕"/>
              </a:rPr>
              <a:t>예상 수익 4,555만원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4983480"/>
            <a:ext cx="4663440" cy="1645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4983480"/>
            <a:ext cx="64008" cy="164592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5056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3. Need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50566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9BA74"/>
                </a:solidFill>
                <a:latin typeface="맑은 고딕"/>
              </a:rPr>
              <a:t>ROAS 803x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시즌 맞춤 윈백 캠페인
할인 쿠폰 + 알림톡(비용 절감)
GMV 2위 세그먼트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309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BA74"/>
                </a:solidFill>
                <a:latin typeface="맑은 고딕"/>
              </a:rPr>
              <a:t>예상 수익 7,010만원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ROAS = (평균구매액 × CVR) / 15원 | 예상 수익 = 세그먼트 전체 적용 기준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11712" y="457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EE500"/>
                </a:solidFill>
                <a:latin typeface="맑은 고딕"/>
              </a:rPr>
              <a:t>결론 &amp; 다음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73152" cy="13716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바이럴 루프가 핵심 성장 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맑은 고딕"/>
              </a:rPr>
              <a:t>K-factor 3.95, gift_received 유입 40% — 선물 경험이 선물을 부른다
캠페인 예산의 70%를 시즌 D-7~D-3에 집중하면 최대 효율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73152" cy="13716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Champions·At Risk 2개 세그먼트가 최우선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맑은 고딕"/>
              </a:rPr>
              <a:t>합산 GMV ₩16억 (전체 21%), 유저 수 5,193명(11.6%)
VIP 보호 + 이탈 방지가 신규 고객 확보보다 ROAS 효율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73152" cy="137160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30일 reciprocity 58% = 골든타임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맑은 고딕"/>
              </a:rPr>
              <a:t>선물 수신 직후 30일이 발신 전환 핵심 구간
수신 D+3~D+7 자동 리마인더 캠페인으로 Viral Loop 증폭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EE500"/>
                </a:solidFill>
                <a:latin typeface="맑은 고딕"/>
              </a:rPr>
              <a:t>다음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1. STL period=30 재분석 [완료]  |  2. ROAS 감도분석 10/15/20원 [완료]  |  3. 분기별 K-factor 자동 모니터링  |  4. 시즌 D-7 캠페인 A/B 테스트 설계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[수정] STL Decomposition period=30 — 월간 시즌성 성분 재산출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Reviewer 지적사항 반영: period=7(주간) → period=30(월간)으로 연간 시즌 이벤트 포착 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64008" cy="502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62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period=7 (이전)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6245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주간 주기만 포착. 빼빼로데이·설날 등 연간 이벤트 시즌성 성분 과소 추정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64008" cy="50292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BA74"/>
                </a:solidFill>
                <a:latin typeface="맑은 고딕"/>
              </a:rPr>
              <a:t>period=30 (수정)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568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월간 주기 포착. 시즌성 성분 표준편차 2,471,865원 → 3,208,555원 (+29.8%)</a:t>
            </a:r>
          </a:p>
        </p:txBody>
      </p:sp>
      <p:pic>
        <p:nvPicPr>
          <p:cNvPr id="13" name="Picture 12" descr="layer1_st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06040"/>
            <a:ext cx="11612880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STL = Seasonal-Trend decomposition using LOESS | robust=True (이상치 내성)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[수정] ROAS 감도분석 — 비용 10/15/20원 시나리오에서 결론 불변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Reviewer 지적사항 반영: 비용 가정이 2배 달라져도 상위 3개 세그먼트 ROAS 600x 이상 유지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5214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10원/건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173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15원/건 (기본)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41732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20원/건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417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1152144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Champions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7452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2,497x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1,665x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7452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1,249x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비용 무관 최고 ROAS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13432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048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At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048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1,213x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404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809x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048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606x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04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안정적 고효율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43784"/>
            <a:ext cx="1152144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935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Need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93522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1,205x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9352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803x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93522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602x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9352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예상수익 최대 (7,010만)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74135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6557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Loyal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5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1,142x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46557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761x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465575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571x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6557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절대 수익 1위 (9,940만)</a:t>
            </a:r>
          </a:p>
        </p:txBody>
      </p:sp>
      <p:pic>
        <p:nvPicPr>
          <p:cNvPr id="37" name="Picture 36" descr="layer5_roa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77639"/>
            <a:ext cx="11612880" cy="2560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ROAS = (평균구매액 × CVR) / 비용 | 비용 범위 10~20원은 카카오 친구톡 실제 단가 범위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