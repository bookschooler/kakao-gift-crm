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0000" cy="6858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400000"/>
            <a:ext cx="113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카카오톡 선물하기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2250000"/>
            <a:ext cx="113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E812"/>
                </a:solidFill>
                <a:latin typeface="맑은 고딕"/>
              </a:rPr>
              <a:t>데이터 분석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050000"/>
            <a:ext cx="113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  <a:latin typeface="맑은 고딕"/>
              </a:rPr>
              <a:t>성장 지속을 위한 사용자 행동 기반 전략 제언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3700000"/>
            <a:ext cx="2000000" cy="6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3900000"/>
            <a:ext cx="113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맑은 고딕"/>
              </a:rPr>
              <a:t>분석 기간: 2023–2024   |   5 Phase End-to-End 분석   |   Selfmade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INTRO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왜 이 분석을 했는가? — 문제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20000"/>
            <a:ext cx="11992000" cy="700000"/>
          </a:xfrm>
          <a:prstGeom prst="rect">
            <a:avLst/>
          </a:prstGeom>
          <a:solidFill>
            <a:srgbClr val="FFF8D0"/>
          </a:solidFill>
          <a:ln w="19050">
            <a:solidFill>
              <a:srgbClr val="FFE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0000" y="8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📈  카카오톡 선물하기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" y="1130000"/>
            <a:ext cx="11692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맑은 고딕"/>
              </a:rPr>
              <a:t>2024 GMV ₩75.2억  (+29.7% YoY)   |   국내 모바일 선물 시장 1위   |   수신→발신 전환율 97.9%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" y="1680000"/>
            <a:ext cx="119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BUT — 성장 이면의 3가지 핵심 질문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000" y="2150000"/>
            <a:ext cx="3964000" cy="20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000" y="2150000"/>
            <a:ext cx="3964000" cy="32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0000" y="2200000"/>
            <a:ext cx="380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①  시즌 의존도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" y="2520000"/>
            <a:ext cx="38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GMV 성장이 이벤트 시즌에만 집중된 건 아닌가?
비시즌 기간 사용자는 어디에 있는가?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3300000"/>
            <a:ext cx="380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DB"/>
                </a:solidFill>
                <a:latin typeface="맑은 고딕"/>
              </a:rPr>
              <a:t>→  Phase 1 EDA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000" y="2150000"/>
            <a:ext cx="3964000" cy="20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3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000" y="2150000"/>
            <a:ext cx="3964000" cy="32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4000" y="2200000"/>
            <a:ext cx="380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②  고객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4000" y="2520000"/>
            <a:ext cx="38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어떤 사용자가 실제 비즈니스를 떠받치는가?
CRM 예산을 어디에 써야 ROI가 높은가?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4000" y="3300000"/>
            <a:ext cx="380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37A48"/>
                </a:solidFill>
                <a:latin typeface="맑은 고딕"/>
              </a:rPr>
              <a:t>→  Phase 2·3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150000"/>
            <a:ext cx="3964000" cy="20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2150000"/>
            <a:ext cx="3964000" cy="32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8000" y="2200000"/>
            <a:ext cx="380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③  바이럴 루프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8000" y="2520000"/>
            <a:ext cx="38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수신자가 발신자로 전환되는 구조가
얼마나 효율적이고, 어디서 끊기는가?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8000" y="3300000"/>
            <a:ext cx="380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E1E"/>
                </a:solidFill>
                <a:latin typeface="맑은 고딕"/>
              </a:rPr>
              <a:t>→  Phase 4·5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00" y="6408000"/>
            <a:ext cx="119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이 세 질문에 end-to-end로 답하는 것이 이 분석의 목적입니다.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INTRO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분석 설계 — 5 Phase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000" y="1000000"/>
            <a:ext cx="2000000" cy="16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000" y="1120000"/>
            <a:ext cx="18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" y="1420000"/>
            <a:ext cx="18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맑은 고딕"/>
              </a:rPr>
              <a:t>EDA &amp;
시즌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000" y="1950000"/>
            <a:ext cx="18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시즌 의존도
진단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6000" y="1740000"/>
            <a:ext cx="80000" cy="12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6000" y="1000000"/>
            <a:ext cx="2000000" cy="1600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6000" y="1120000"/>
            <a:ext cx="18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6000" y="1420000"/>
            <a:ext cx="18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맑은 고딕"/>
              </a:rPr>
              <a:t>RFM
세그멘테이션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6000" y="1950000"/>
            <a:ext cx="18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맑은 고딕"/>
              </a:rPr>
              <a:t>고가치 고객
식별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6000" y="1740000"/>
            <a:ext cx="80000" cy="12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6000" y="1000000"/>
            <a:ext cx="2000000" cy="160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6000" y="1120000"/>
            <a:ext cx="18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6000" y="1420000"/>
            <a:ext cx="18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LTV
코호트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6000" y="1950000"/>
            <a:ext cx="18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고객 장기
가치 산출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06000" y="1740000"/>
            <a:ext cx="80000" cy="12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96000" y="1000000"/>
            <a:ext cx="2000000" cy="16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6000" y="1120000"/>
            <a:ext cx="18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6000" y="1420000"/>
            <a:ext cx="18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바이럴
루프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6000" y="1950000"/>
            <a:ext cx="18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K-factor &amp;
전환 메커니즘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06000" y="1740000"/>
            <a:ext cx="80000" cy="12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6000" y="1000000"/>
            <a:ext cx="2000000" cy="1600000"/>
          </a:xfrm>
          <a:prstGeom prst="rect">
            <a:avLst/>
          </a:prstGeom>
          <a:solidFill>
            <a:srgbClr val="771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6000" y="1120000"/>
            <a:ext cx="18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6000" y="1420000"/>
            <a:ext cx="18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CRM
전략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6000" y="1950000"/>
            <a:ext cx="18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A/B·ROAS·
액션플랜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00" y="2900000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데이터 소스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000" y="3300000"/>
            <a:ext cx="2358400" cy="6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000" y="3380000"/>
            <a:ext cx="2238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`orders`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00" y="3640000"/>
            <a:ext cx="2238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주문 트랜잭션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98400" y="3300000"/>
            <a:ext cx="2358400" cy="6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58400" y="3380000"/>
            <a:ext cx="2238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`users`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8400" y="3640000"/>
            <a:ext cx="2238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사용자 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6800" y="3300000"/>
            <a:ext cx="2358400" cy="6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800" y="3380000"/>
            <a:ext cx="2238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`gifts`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6800" y="3640000"/>
            <a:ext cx="2238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선물 발송/수신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95200" y="3300000"/>
            <a:ext cx="2358400" cy="6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5200" y="3380000"/>
            <a:ext cx="2238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`campaigns`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5200" y="3640000"/>
            <a:ext cx="2238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캠페인 메타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3600" y="3300000"/>
            <a:ext cx="2358400" cy="6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3600" y="3380000"/>
            <a:ext cx="2238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`events`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3600" y="3640000"/>
            <a:ext cx="22384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사용자 이벤트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1 · Phase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성장 구조 — GMV 추이 &amp; 트렌드 분해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성장이 이벤트 시즌에만
의존하는 건 아닌가?
비시즌 기간에도
실질적 성장이 있는가?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2023 GMV  ₩58.0억</a:t>
            </a:r>
          </a:p>
          <a:p>
            <a:pPr algn="l"/>
            <a:r>
              <a:rPr sz="1600" b="1">
                <a:solidFill>
                  <a:srgbClr val="037A48"/>
                </a:solidFill>
                <a:latin typeface="맑은 고딕"/>
              </a:rPr>
              <a:t>2024 GMV  ₩75.2억  (+29.7%)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STL 분해 결과: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Trend 성분: 독립적 우상향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Seasonal: 3개 피크 명확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• Residual: 특이값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비시즌 투자 정당화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시즌 성과가 좋아도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Trend 성분이 독립 성장 중</a:t>
            </a:r>
          </a:p>
          <a:p>
            <a:pPr algn="l"/>
            <a:r>
              <a:rPr sz="1300" b="1">
                <a:solidFill>
                  <a:srgbClr val="C81E1E"/>
                </a:solidFill>
                <a:latin typeface="맑은 고딕"/>
              </a:rPr>
              <a:t>→ 비시즌 CRM 예산 확보 근거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연간 GMV 예측 모델 구축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1 · Phase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시즌 패턴 — 시즌별 전략을 달리해야 하는가?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시즌별 구매 패턴이
다른가?
동일한 캠페인 전략으로
모든 시즌을 커버할 수 있나?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시즌별 AOV (평균 주문금액):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500" b="1">
                <a:solidFill>
                  <a:srgbClr val="1A56DB"/>
                </a:solidFill>
                <a:latin typeface="맑은 고딕"/>
              </a:rPr>
              <a:t>빼빼로데이  ₩40,946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→ 소액다량: 저단가 대규모 발송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500" b="1">
                <a:solidFill>
                  <a:srgbClr val="037A48"/>
                </a:solidFill>
                <a:latin typeface="맑은 고딕"/>
              </a:rPr>
              <a:t>설날  ₩128,266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→ 고단가: 프리미엄 선물세트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발렌타인  뷰티 76.7% 집중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시즌별 전략 분리 필수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A56DB"/>
                </a:solidFill>
                <a:latin typeface="맑은 고딕"/>
              </a:rPr>
              <a:t>빼빼로데이: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발송량 최대화, 저단가 번들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037A48"/>
                </a:solidFill>
                <a:latin typeface="맑은 고딕"/>
              </a:rPr>
              <a:t>설날: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프리미엄 큐레이션, 고가 묶음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AA0088"/>
                </a:solidFill>
                <a:latin typeface="맑은 고딕"/>
              </a:rPr>
              <a:t>발렌타인: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뷰티 카테고리 집중 프로모션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1 · Phase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카테고리 믹스 — 특정 카테고리 의존 리스크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특정 카테고리에
지나치게 의존하는 건 아닌가?
시즌이 바뀌면
매출 구조가 무너지는가?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카테고리 × 시즌 교차 분석: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뷰티/화장품: 연평균 ~35%</a:t>
            </a:r>
          </a:p>
          <a:p>
            <a:pPr algn="l"/>
            <a:r>
              <a:rPr sz="1300" b="0">
                <a:solidFill>
                  <a:srgbClr val="C81E1E"/>
                </a:solidFill>
                <a:latin typeface="맑은 고딕"/>
              </a:rPr>
              <a:t>  → 발렌타인 76.7% 극단 집중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식품/음료: 빼빼로데이 강세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생활용품: 설날 시즌 강세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시즌마다 지배 카테고리 교체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카테고리 다각화 로드맵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뷰티 의존도 리스크 관리: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비시즌 뷰티 수요 유지 캠페인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크로스카테고리 번들 기획: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식품+뷰티 콜라보 선물세트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시즌별 카테고리 큐레이션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2 · Phase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RFM 세그멘테이션 — 어떤 사용자가 비즈니스를 만드는가?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20000"/>
            <a:ext cx="5946000" cy="600000"/>
          </a:xfrm>
          <a:prstGeom prst="rect">
            <a:avLst/>
          </a:prstGeom>
          <a:solidFill>
            <a:srgbClr val="FFF8D0"/>
          </a:solidFill>
          <a:ln w="12700">
            <a:solidFill>
              <a:srgbClr val="FFE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860000"/>
            <a:ext cx="579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🔧 도메인 특화 설계: 표준 RFM과의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1120000"/>
            <a:ext cx="579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선물하기는 연간 구매 빈도가 낮음 → F 스코어를 5분위 대신 4레벨로 커스텀 재설계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" y="1520000"/>
            <a:ext cx="3957333" cy="6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00" y="16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00" y="188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</a:rPr>
              <a:t>R≥4  ·  F≥3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7333" y="1520000"/>
            <a:ext cx="3957333" cy="680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7333" y="16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Loyal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7333" y="188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</a:rPr>
              <a:t>R=3  ·  F≥3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4666" y="1520000"/>
            <a:ext cx="3957333" cy="6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4666" y="16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666" y="188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R≤2  ·  F≥3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000" y="2240000"/>
            <a:ext cx="3957333" cy="6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" y="232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Potential Loyalists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00" y="260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R=4  ·  F=2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7333" y="2240000"/>
            <a:ext cx="3957333" cy="680000"/>
          </a:xfrm>
          <a:prstGeom prst="rect">
            <a:avLst/>
          </a:prstGeom>
          <a:solidFill>
            <a:srgbClr val="771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7333" y="232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Need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7333" y="260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R=3  ·  F=2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4666" y="2240000"/>
            <a:ext cx="3957333" cy="6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4666" y="232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Can't Lose Them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4666" y="260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R≤2  ·  F≥4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000" y="2960000"/>
            <a:ext cx="3957333" cy="6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00" y="304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Recent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00" y="332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R=4  ·  F=1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7333" y="2960000"/>
            <a:ext cx="3957333" cy="680000"/>
          </a:xfrm>
          <a:prstGeom prst="rect">
            <a:avLst/>
          </a:prstGeom>
          <a:solidFill>
            <a:srgbClr val="026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7333" y="304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Promising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7333" y="332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R=3  ·  F=1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4666" y="2960000"/>
            <a:ext cx="3957333" cy="68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4666" y="304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About to Sleep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4666" y="3320000"/>
            <a:ext cx="3837333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R≤2  ·  F=1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2 · Phase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GMV Pareto — CRM 예산을 어디에 써야 하는가?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모든 세그먼트를
동등하게 관리해야 하나?
CRM 예산 배분의
근거는 무엇인가?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세그먼트별 GMV 기여: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Champions      44.3%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Loyal Customers  18.7%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At Risk          12.1%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맑은 고딕"/>
              </a:rPr>
              <a:t>나머지 6개       24.9%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상위 2개 세그먼트 = GMV 63%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Pareto 법칙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집중 투자 전략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Champions: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VIP 혜택, 얼리 액세스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유지 비용 최소화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C81E1E"/>
                </a:solidFill>
                <a:latin typeface="맑은 고딕"/>
              </a:rPr>
              <a:t>At Risk / Can't Lose: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긴급 재활성화 예산 집중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개인화 메시지 + 쿠폰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Recent: 온보딩 시퀀스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2 · Phase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LTV 커브 — 신규 고객 획득에 얼마까지 써도 되는가?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신규 고객 1명 획득에
얼마까지 투자해도 되나?
CAC (고객 획득 비용) 상한은
데이터로 어떻게 정할 수 있나?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코호트 LTV (M+N 누적):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M+0   ₩75,248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M+3   ₩112,400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M+6   ₩155,700</a:t>
            </a:r>
          </a:p>
          <a:p>
            <a:pPr algn="l"/>
            <a:r>
              <a:rPr sz="1600" b="1">
                <a:solidFill>
                  <a:srgbClr val="037A48"/>
                </a:solidFill>
                <a:latin typeface="맑은 고딕"/>
              </a:rPr>
              <a:t>M+11  ₩203,169  ★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037A48"/>
                </a:solidFill>
                <a:latin typeface="맑은 고딕"/>
              </a:rPr>
              <a:t>M+0 대비 2.7배 성장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CAC 상한선 설정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LTV:CAC = 10:1 목표 기준:</a:t>
            </a:r>
          </a:p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CAC ≤ ₩20,317 허용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세그먼트별 차등 적용: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Champions 예상 LTV 높음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→ 더 높은 CAC 허용 가능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마케팅 예산 승인 근거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2 · Phase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시즌 코호트 품질 — 시즌 마케팅 ROI 정당화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시즌 캠페인으로 유입된
고객은 금방 떠나는 건 아닌가?
시즌 마케팅 예산 증가를
데이터로 정당화할 수 있나?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시즌 vs 비시즌 코호트 비교: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시즌 유입  M+11 LTV  ₩201,500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비시즌 유입 M+11 LTV  ₩204,800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500" b="1">
                <a:solidFill>
                  <a:srgbClr val="037A48"/>
                </a:solidFill>
                <a:latin typeface="맑은 고딕"/>
              </a:rPr>
              <a:t>차이: -1.6%  →  사실상 동일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M+1 리텐션도 시즌=비시즌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시즌 예산 확대 정당화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037A48"/>
                </a:solidFill>
                <a:latin typeface="맑은 고딕"/>
              </a:rPr>
              <a:t>시즌 유입 ≠ 일회성 고객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장기 고객 확보 채널로 입증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실무 적용: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'시즌 캠페인은 비용이다'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→ '시즌 캠페인은 투자다'로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프레임 전환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3 · Phase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K-factor — 선물하기의 자체 바이럴 성장 엔진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선물하기 플랫폼이
자체적으로 사용자를
늘리는 구조인가?
K-factor는 얼마이며
어떤 유저가 더 높은가?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K-factor (수정값):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600" b="1">
                <a:solidFill>
                  <a:srgbClr val="037A48"/>
                </a:solidFill>
                <a:latin typeface="맑은 고딕"/>
              </a:rPr>
              <a:t>전체 평균    K = 1.559  ★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A56DB"/>
                </a:solidFill>
                <a:latin typeface="맑은 고딕"/>
              </a:rPr>
              <a:t>자기선물 유저  K = 2.090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타인선물 유저  K = 1.515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037A48"/>
                </a:solidFill>
                <a:latin typeface="맑은 고딕"/>
              </a:rPr>
              <a:t>K &gt; 1  →  바이럴 성장 가능 구조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* DESA 원본 K=3.948은 중복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  집계 오류 → 수정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자기선물 유저 집중 육성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A56DB"/>
                </a:solidFill>
                <a:latin typeface="맑은 고딕"/>
              </a:rPr>
              <a:t>자기선물 K=2.090: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헤비유저 특성, 바이럴 증폭 효과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→ 자기선물 전용 혜택 강화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K-factor 시뮬레이션: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1,000명 활성화 → M+6 ~5,000명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CAC 절감 효과 정량화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3 · Phase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상호성 &amp; Golden Time — 수신자를 언제 발신자로 전환시키는가?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800000"/>
            <a:ext cx="3997333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💬 비즈니스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선물 받은 사람이
다시 선물을 보내게 되는 건
언제, 얼마나 일어나는가?
리마인더 캠페인 타이밍은?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7333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47333" y="800000"/>
            <a:ext cx="3997333" cy="3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7333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📊 데이터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333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Pay-it-forward 비율:</a:t>
            </a:r>
          </a:p>
          <a:p>
            <a:pPr algn="l"/>
            <a:r>
              <a:rPr sz="1500" b="1">
                <a:solidFill>
                  <a:srgbClr val="037A48"/>
                </a:solidFill>
                <a:latin typeface="맑은 고딕"/>
              </a:rPr>
              <a:t>수신자 중 발신 경험 있음  99.4%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Golden Time (수신→발신 중앙값):</a:t>
            </a:r>
          </a:p>
          <a:p>
            <a:pPr algn="l"/>
            <a:r>
              <a:rPr sz="1800" b="1">
                <a:solidFill>
                  <a:srgbClr val="1A56DB"/>
                </a:solidFill>
                <a:latin typeface="맑은 고딕"/>
              </a:rPr>
              <a:t>30일  ★</a:t>
            </a:r>
          </a:p>
          <a:p>
            <a:pPr algn="l"/>
            <a:r>
              <a:rPr sz="6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수신 후 30일 이내 전환율 최고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30일 이후 전환율 급격히 감소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666" y="800000"/>
            <a:ext cx="3997333" cy="5858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4666" y="800000"/>
            <a:ext cx="3997333" cy="38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4666" y="900000"/>
            <a:ext cx="3837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실행 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4666" y="1220000"/>
            <a:ext cx="3837333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D+7/14/30 자동 넛지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수신 후 자동 캠페인 시퀀스: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D+7:  '받은 선물 어때요?'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D+14: '당신도 선물해보세요'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D+30: '마지막 기회' 긴급 넛지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Golden Time 내 전환 집중으로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CAC 없는 신규 발신자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3 · Phase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Occasion 트리거 — 전환은 시간이 아닌 '계기'로 발동된다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820000"/>
            <a:ext cx="11992000" cy="550000"/>
          </a:xfrm>
          <a:prstGeom prst="rect">
            <a:avLst/>
          </a:prstGeom>
          <a:solidFill>
            <a:srgbClr val="FFF0F0"/>
          </a:solidFill>
          <a:ln w="254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0000" y="920000"/>
            <a:ext cx="1169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1E1E"/>
                </a:solidFill>
                <a:latin typeface="맑은 고딕"/>
              </a:rPr>
              <a:t>💡  핵심 발견: 미전환의 63.2%는 '시간 부족'이 아닌 '명확한 계기(Occasion) 부재'가 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" y="1500000"/>
            <a:ext cx="594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Occasion별 전환율 순위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" y="1870000"/>
            <a:ext cx="5946000" cy="5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000" y="1950000"/>
            <a:ext cx="574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🥇  생일 (Birthday)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2200000"/>
            <a:ext cx="574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가장 강력한 트리거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000" y="2570000"/>
            <a:ext cx="5946000" cy="580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000" y="2650000"/>
            <a:ext cx="574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🥈  빼빼로데이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" y="2900000"/>
            <a:ext cx="574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시즌 이벤트 집중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000" y="3270000"/>
            <a:ext cx="5946000" cy="58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000" y="3350000"/>
            <a:ext cx="574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🥉  크리스마스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" y="3600000"/>
            <a:ext cx="574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연말 시즌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000" y="3970000"/>
            <a:ext cx="5946000" cy="5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000" y="4050000"/>
            <a:ext cx="574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4위  발렌타인데이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" y="4300000"/>
            <a:ext cx="574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뷰티 카테고리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6000" y="1500000"/>
            <a:ext cx="589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✅  실행 제언 — Occasion-Triggered CRM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000" y="1870000"/>
            <a:ext cx="5896000" cy="82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6000" y="195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생일 D-30 캠페인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000" y="2230000"/>
            <a:ext cx="573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'○○님 생일에 자신에게 선물해보세요'
→ 자기선물 K=2.090 극대화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6000" y="2820000"/>
            <a:ext cx="5896000" cy="82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6000" y="290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기념일 전 맞춤 큐레이션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6000" y="3180000"/>
            <a:ext cx="573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수신 이력 기반 개인화 상품 추천
→ '지난번 받은 것과 비슷한 선물'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6000" y="3770000"/>
            <a:ext cx="5896000" cy="82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6000" y="385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63.2% 미전환 타겟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6000" y="4130000"/>
            <a:ext cx="573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Occasion 없는 사용자에게
가상 계기 생성 (시즌 이벤트 연결)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4 · Phase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캠페인 퍼널 — 어디서 고객을 잃고 있는가?</a:t>
            </a:r>
          </a:p>
        </p:txBody>
      </p:sp>
      <p:pic>
        <p:nvPicPr>
          <p:cNvPr id="6" name="Picture 5" descr="layer5_campaign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820000"/>
            <a:ext cx="5946000" cy="57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6000" y="820000"/>
            <a:ext cx="5896000" cy="75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6000" y="900000"/>
            <a:ext cx="2948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발송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880000"/>
            <a:ext cx="2868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>
                <a:solidFill>
                  <a:srgbClr val="000000"/>
                </a:solidFill>
                <a:latin typeface="맑은 고딕"/>
              </a:rPr>
              <a:t>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000" y="1720000"/>
            <a:ext cx="5896000" cy="75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3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6000" y="1800000"/>
            <a:ext cx="2948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Open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780000"/>
            <a:ext cx="2868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>
                <a:solidFill>
                  <a:srgbClr val="037A48"/>
                </a:solidFill>
                <a:latin typeface="맑은 고딕"/>
              </a:rPr>
              <a:t>53.68%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000" y="2620000"/>
            <a:ext cx="5896000" cy="75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6000" y="2700000"/>
            <a:ext cx="2948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CTR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80000"/>
            <a:ext cx="2868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>
                <a:solidFill>
                  <a:srgbClr val="1A56DB"/>
                </a:solidFill>
                <a:latin typeface="맑은 고딕"/>
              </a:rPr>
              <a:t>~8%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000" y="3520000"/>
            <a:ext cx="5896000" cy="75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6000" y="3600000"/>
            <a:ext cx="2948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맑은 고딕"/>
              </a:rPr>
              <a:t>CVR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580000"/>
            <a:ext cx="2868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>
                <a:solidFill>
                  <a:srgbClr val="C81E1E"/>
                </a:solidFill>
                <a:latin typeface="맑은 고딕"/>
              </a:rPr>
              <a:t>0.53%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6000" y="4520000"/>
            <a:ext cx="589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⚠ 병목: 클릭→구매 구간
→ 상품 페이지 UX 또는 가격 저항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4 · Phase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A/B 테스트 — 어떤 메시지가 더 잘 팔리는가?</a:t>
            </a:r>
          </a:p>
        </p:txBody>
      </p:sp>
      <p:pic>
        <p:nvPicPr>
          <p:cNvPr id="6" name="Picture 5" descr="layer5_ab_tes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820000"/>
            <a:ext cx="5946000" cy="57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6000" y="820000"/>
            <a:ext cx="589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검정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6000" y="1180000"/>
            <a:ext cx="589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맑은 고딕"/>
              </a:rPr>
              <a:t>χ² = 2002.6   |   p &lt; 0.0001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6000" y="1480000"/>
            <a:ext cx="589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맑은 고딕"/>
              </a:rPr>
              <a:t>통계적으로 매우 유의미한 차이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000" y="1900000"/>
            <a:ext cx="5896000" cy="95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6000" y="198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56DB"/>
                </a:solidFill>
                <a:latin typeface="맑은 고딕"/>
              </a:rPr>
              <a:t>A 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6000" y="2280000"/>
            <a:ext cx="573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56DB"/>
                </a:solidFill>
                <a:latin typeface="맑은 고딕"/>
              </a:rPr>
              <a:t>CTR  15.16%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6000" y="2580000"/>
            <a:ext cx="5736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인기순 추천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3000000"/>
            <a:ext cx="5896000" cy="95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3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6000" y="308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37A48"/>
                </a:solidFill>
                <a:latin typeface="맑은 고딕"/>
              </a:rPr>
              <a:t>B  Curation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6000" y="3380000"/>
            <a:ext cx="573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37A48"/>
                </a:solidFill>
                <a:latin typeface="맑은 고딕"/>
              </a:rPr>
              <a:t>CVR  12.73%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00" y="3680000"/>
            <a:ext cx="5736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개인화 큐레이션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000" y="6258000"/>
            <a:ext cx="589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E1E"/>
                </a:solidFill>
                <a:latin typeface="맑은 고딕"/>
              </a:rPr>
              <a:t>✅  CTR 목표 → Ranking   |   CVR·매출 목표 → Curation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4 · Phase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ROAS 시뮬레이션 — 캠페인 예산 승인 근거</a:t>
            </a:r>
          </a:p>
        </p:txBody>
      </p:sp>
      <p:pic>
        <p:nvPicPr>
          <p:cNvPr id="6" name="Picture 5" descr="layer5_roas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820000"/>
            <a:ext cx="5946000" cy="56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6000" y="820000"/>
            <a:ext cx="589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세그먼트별 ROAS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6000" y="1200000"/>
            <a:ext cx="5896000" cy="62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6000" y="1280000"/>
            <a:ext cx="29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</a:rPr>
              <a:t>Champions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260000"/>
            <a:ext cx="28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000000"/>
                </a:solidFill>
                <a:latin typeface="맑은 고딕"/>
              </a:rPr>
              <a:t>2,595배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1950000"/>
            <a:ext cx="5896000" cy="62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6000" y="2030000"/>
            <a:ext cx="29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Loyal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010000"/>
            <a:ext cx="28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맑은 고딕"/>
              </a:rPr>
              <a:t>890배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700000"/>
            <a:ext cx="5896000" cy="62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6000" y="2780000"/>
            <a:ext cx="29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760000"/>
            <a:ext cx="28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맑은 고딕"/>
              </a:rPr>
              <a:t>340배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000" y="3450000"/>
            <a:ext cx="5896000" cy="62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6000" y="3530000"/>
            <a:ext cx="29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전체 평균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10000"/>
            <a:ext cx="28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맑은 고딕"/>
              </a:rPr>
              <a:t>137배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000" y="4300000"/>
            <a:ext cx="589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</a:rPr>
              <a:t>감도 분석 (3 시나리오)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6000" y="4620000"/>
            <a:ext cx="5896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낙관적 +20% CVR → ROAS 165배
기본 시나리오        → ROAS 137배
보수적 -20% CVR → ROAS 110배
→ 어느 시나리오도 ROAS &gt; 100배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4 · Phase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CRM 액션 플랜 — 어떤 세그먼트에 무슨 메시지를 언제?</a:t>
            </a:r>
          </a:p>
        </p:txBody>
      </p:sp>
      <p:pic>
        <p:nvPicPr>
          <p:cNvPr id="6" name="Picture 5" descr="layer5_segment_messag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820000"/>
            <a:ext cx="5946000" cy="57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6000" y="820000"/>
            <a:ext cx="5896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</a:rPr>
              <a:t>3종 즉시 실행 캠페인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6000" y="1220000"/>
            <a:ext cx="5896000" cy="13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6000" y="130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맑은 고딕"/>
              </a:rPr>
              <a:t>VIP 로열티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6000" y="1600000"/>
            <a:ext cx="573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타겟: 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000" y="1820000"/>
            <a:ext cx="573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맑은 고딕"/>
              </a:rPr>
              <a:t>메시지: 얼리 액세스 + 신상품 초대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6000" y="2040000"/>
            <a:ext cx="573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</a:rPr>
              <a:t>타이밍: 상시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000" y="2670000"/>
            <a:ext cx="5896000" cy="130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6000" y="275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재활성화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6000" y="3050000"/>
            <a:ext cx="573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타겟: At Risk / Can't Lose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6000" y="3270000"/>
            <a:ext cx="573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메시지: 개인화 메시지 + 쿠폰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00" y="3490000"/>
            <a:ext cx="573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타이밍: 마지막 구매 D+60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000" y="4120000"/>
            <a:ext cx="5896000" cy="13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6000" y="420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Occasion 트리거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000" y="4500000"/>
            <a:ext cx="573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타겟: 전 세그먼트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000" y="4720000"/>
            <a:ext cx="5736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메시지: 생일/기념일 맞춤 큐레이션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000" y="4940000"/>
            <a:ext cx="5736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타이밍: 이벤트 D-30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PART 4 · Phase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연간 캠페인 전략 — 시즌 vs 비시즌 분리 운영</a:t>
            </a:r>
          </a:p>
        </p:txBody>
      </p:sp>
      <p:pic>
        <p:nvPicPr>
          <p:cNvPr id="6" name="Picture 5" descr="layer5_seasonal_vs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820000"/>
            <a:ext cx="5946000" cy="57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6000" y="820000"/>
            <a:ext cx="5896000" cy="23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6000" y="820000"/>
            <a:ext cx="5896000" cy="380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6000" y="92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📅  시즌 캠페인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6000" y="127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목표: 대량 도달, 높은 Open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000" y="169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메시지: Ranking (인기 상품)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6000" y="211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타이밍: 이벤트 D-7 ~ D-1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6000" y="253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효과: 광범위 신규 유입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3320000"/>
            <a:ext cx="5896000" cy="23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000" y="3320000"/>
            <a:ext cx="5896000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6000" y="3420000"/>
            <a:ext cx="573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🎯  비시즌 캠페인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00" y="377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목표: 전환율 극대화, CVR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6000" y="419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메시지: Curation (개인화)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6000" y="461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타이밍: Golden Time (수신 후 30일)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000" y="5030000"/>
            <a:ext cx="5736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• 효과: 기존 사용자 재활성화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000" y="130000"/>
            <a:ext cx="119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맑은 고딕"/>
              </a:rPr>
              <a:t>핵심 발견 요약 — 5 Phase 비즈니스 임팩트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000" y="800000"/>
            <a:ext cx="2368400" cy="3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000" y="840000"/>
            <a:ext cx="2288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1200000"/>
            <a:ext cx="2368400" cy="280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00" y="1300000"/>
            <a:ext cx="22484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GMV +29.7% YoY,
Trend 성분 독립 성장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000" y="4050000"/>
            <a:ext cx="2368400" cy="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00" y="4170000"/>
            <a:ext cx="224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E812"/>
                </a:solidFill>
                <a:latin typeface="맑은 고딕"/>
              </a:rPr>
              <a:t>비시즌 CRM 투자 정당화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8400" y="800000"/>
            <a:ext cx="2368400" cy="3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8400" y="840000"/>
            <a:ext cx="2288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8400" y="1200000"/>
            <a:ext cx="2368400" cy="280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8400" y="1300000"/>
            <a:ext cx="22484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Champions가 GMV 44.3%
상위 2개 세그먼트 = 63%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8400" y="4050000"/>
            <a:ext cx="2368400" cy="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8400" y="4170000"/>
            <a:ext cx="224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E812"/>
                </a:solidFill>
                <a:latin typeface="맑은 고딕"/>
              </a:rPr>
              <a:t>CRM 예산 집중 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6800" y="800000"/>
            <a:ext cx="2368400" cy="3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800" y="840000"/>
            <a:ext cx="2288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6800" y="1200000"/>
            <a:ext cx="2368400" cy="280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6800" y="1300000"/>
            <a:ext cx="22484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M+11 LTV ₩203,169
시즌=비시즌 품질 동일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6800" y="4050000"/>
            <a:ext cx="2368400" cy="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6800" y="4170000"/>
            <a:ext cx="224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E812"/>
                </a:solidFill>
                <a:latin typeface="맑은 고딕"/>
              </a:rPr>
              <a:t>CAC 상한 &amp; 시즌 예산 확대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5200" y="800000"/>
            <a:ext cx="2368400" cy="3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5200" y="840000"/>
            <a:ext cx="2288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5200" y="1200000"/>
            <a:ext cx="2368400" cy="280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5200" y="1300000"/>
            <a:ext cx="22484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K=1.559, Golden Time 30일
생일 Occasion 1위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25200" y="4050000"/>
            <a:ext cx="2368400" cy="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5200" y="4170000"/>
            <a:ext cx="224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E812"/>
                </a:solidFill>
                <a:latin typeface="맑은 고딕"/>
              </a:rPr>
              <a:t>바이럴 자동화 파이프라인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3600" y="800000"/>
            <a:ext cx="2368400" cy="3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3600" y="840000"/>
            <a:ext cx="22884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Phase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3600" y="1200000"/>
            <a:ext cx="2368400" cy="2800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600" y="1300000"/>
            <a:ext cx="22484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Champions ROAS 2,595배
총 GMV ₩6.02억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33600" y="4050000"/>
            <a:ext cx="2368400" cy="8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93600" y="4170000"/>
            <a:ext cx="22484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E812"/>
                </a:solidFill>
                <a:latin typeface="맑은 고딕"/>
              </a:rPr>
              <a:t>3종 CRM 즉시 실행 가능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다음 단계 — 분석을 실행으로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000" y="900000"/>
            <a:ext cx="5946000" cy="21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00" y="900000"/>
            <a:ext cx="5946000" cy="3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980000"/>
            <a:ext cx="578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🔧  Occasion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320000"/>
            <a:ext cx="5786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생일/기념일 D-30 자동 트리거 시스템 구축
수신 후 D+7/14/30 자동 넛지 시퀀스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26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6DB"/>
                </a:solidFill>
                <a:latin typeface="맑은 고딕"/>
              </a:rPr>
              <a:t>우선순위: 높음  |  난이도: 중간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6000" y="900000"/>
            <a:ext cx="5946000" cy="21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3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6000" y="900000"/>
            <a:ext cx="5946000" cy="35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6000" y="980000"/>
            <a:ext cx="578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🔄  세그먼트 자동 업데이트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6000" y="1320000"/>
            <a:ext cx="5786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월 1회 RFM 재계산 → 세그먼트 자동 갱신
Champions 이탈 감지 알럿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6000" y="26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37A48"/>
                </a:solidFill>
                <a:latin typeface="맑은 고딕"/>
              </a:rPr>
              <a:t>우선순위: 높음  |  난이도: 낮음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000" y="3200000"/>
            <a:ext cx="5946000" cy="21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771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000" y="3200000"/>
            <a:ext cx="5946000" cy="350000"/>
          </a:xfrm>
          <a:prstGeom prst="rect">
            <a:avLst/>
          </a:prstGeom>
          <a:solidFill>
            <a:srgbClr val="771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000" y="3280000"/>
            <a:ext cx="578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🧪  멀티암 A/B 테스트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3620000"/>
            <a:ext cx="5786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현재 이분법(Ranking/Curation) →
Hybrid 멀티암 테스트로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" y="49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717AA"/>
                </a:solidFill>
                <a:latin typeface="맑은 고딕"/>
              </a:rPr>
              <a:t>우선순위: 중간  |  난이도: 중간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000" y="3200000"/>
            <a:ext cx="5946000" cy="2100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6000" y="3200000"/>
            <a:ext cx="5946000" cy="3500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6000" y="3280000"/>
            <a:ext cx="578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📊  LTV 기반 CAC 차등화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6000" y="3620000"/>
            <a:ext cx="5786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맑은 고딕"/>
              </a:rPr>
              <a:t>세그먼트별 예상 LTV 산출 →
허용 CAC 상한선 차등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6000" y="49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E1E"/>
                </a:solidFill>
                <a:latin typeface="맑은 고딕"/>
              </a:rPr>
              <a:t>우선순위: 중간  |  난이도: 낮음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700000"/>
          </a:xfrm>
          <a:prstGeom prst="rect">
            <a:avLst/>
          </a:prstGeom>
          <a:solidFill>
            <a:srgbClr val="FFE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" y="120000"/>
            <a:ext cx="1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0000" y="0"/>
            <a:ext cx="10992000" cy="7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0" y="130000"/>
            <a:ext cx="107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분석 한계 &amp; 개선 방향 — 솔직한 자기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" y="820000"/>
            <a:ext cx="1199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실제 서비스라면 보완할 점을 명확히 인식하고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000" y="1300000"/>
            <a:ext cx="5946000" cy="20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14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⚠ 데이터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730000"/>
            <a:ext cx="5786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합성 데이터 사용 → 실제 분포와 다를 수 있음
특히 K-factor, Occasion 비율은 실데이터 검증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550000"/>
            <a:ext cx="5786000" cy="5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2630000"/>
            <a:ext cx="5786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37A48"/>
                </a:solidFill>
                <a:latin typeface="맑은 고딕"/>
              </a:rPr>
              <a:t>개선: 실제 로그 데이터 + A/B 실험군 분리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6000" y="1300000"/>
            <a:ext cx="5946000" cy="20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6000" y="14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⚠ 인과관계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6000" y="1730000"/>
            <a:ext cx="5786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상관관계 분석 위주 → 인과추론(Causal Inference) 미적용
예: 'Occasion이 원인이다'는 아직 가설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6000" y="2550000"/>
            <a:ext cx="5786000" cy="5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6000" y="2630000"/>
            <a:ext cx="5786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37A48"/>
                </a:solidFill>
                <a:latin typeface="맑은 고딕"/>
              </a:rPr>
              <a:t>개선: DiD, IV, RDD 등 인과추론 기법 적용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00" y="3500000"/>
            <a:ext cx="5946000" cy="20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000" y="36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⚠ K-factor 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3930000"/>
            <a:ext cx="5786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추천 경로 추적 데이터 불완전
순수 바이럴 vs 유기적 성장 분리 어려움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000" y="4750000"/>
            <a:ext cx="5786000" cy="5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4830000"/>
            <a:ext cx="5786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37A48"/>
                </a:solidFill>
                <a:latin typeface="맑은 고딕"/>
              </a:rPr>
              <a:t>개선: attribution 모델 도입, 링크 트래킹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6000" y="3500000"/>
            <a:ext cx="5946000" cy="200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6000" y="3600000"/>
            <a:ext cx="5786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맑은 고딕"/>
              </a:rPr>
              <a:t>⚠ 세그먼트 경계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6000" y="3930000"/>
            <a:ext cx="5786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RFM 분위 경계값 임의 설정
비즈니스 컨텍스트 반영한 튜닝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6000" y="4750000"/>
            <a:ext cx="5786000" cy="50000"/>
          </a:xfrm>
          <a:prstGeom prst="rect">
            <a:avLst/>
          </a:prstGeom>
          <a:solidFill>
            <a:srgbClr val="03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6000" y="4830000"/>
            <a:ext cx="5786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37A48"/>
                </a:solidFill>
                <a:latin typeface="맑은 고딕"/>
              </a:rPr>
              <a:t>개선: 비즈니스팀과 협업해 경계값 재정의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