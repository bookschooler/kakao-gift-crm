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선물하기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프로젝트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지속을 위한 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지속을 위한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행동 기반 전략 제언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End-to-End 분석을 통해 시즌 의존도, 고객 구조, 바이럴 루프를 진단하고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마케팅 효율을 극대화하는 실행 가능한 전략을 제시합니다.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310128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3419856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2024년 GMV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369417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₩75.2억</a:t>
            </a:r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+29.7% YoY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32888" y="3310128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42616" y="3419856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총 주문 건수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42616" y="369417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109,392건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62856" y="3310128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72584" y="3419856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수신→발신 전환율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2584" y="369417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92824" y="3310128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02552" y="3419856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선물 수락률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02552" y="369417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74320" y="4818888"/>
            <a:ext cx="8869680" cy="3200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🗓 분석 기간: 2023-2024  |  💾 5 Phase End-to-End 분석  |  &lt;/&gt; BigQuery + Python  |  👤 50,000+ users / 200,011+ orders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선물하기 현황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GMV: ₩75.2억 (+29.7% YoY)  |  총 주문: 109,392건  |  수신→발신: 97.9%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420624"/>
            <a:ext cx="1673352" cy="246888"/>
          </a:xfrm>
          <a:prstGeom prst="roundRect">
            <a:avLst>
              <a:gd name="adj" fmla="val 148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20624"/>
            <a:ext cx="1673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INTRO · Phase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76809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이면의 3가지 핵심 질문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1480" y="13350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성장이 이벤트 시즌에만 집중된 건 아닌가? 어떤 사용자가 실제 비즈니스를 떠받치는가?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출처: BigQuery ds-ysy.kakao_gift  |  분석 기준: 2024년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60020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1728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</a:rPr>
              <a:t>① 시즌 의존도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94560" y="175564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CA8A04">
              <a:alpha val="13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1755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8A04"/>
                </a:solidFill>
              </a:rPr>
              <a:t>Phase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075688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성장이 이벤트 시즌에만 집중된 건 아닌가?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비시즌 기간 사용자는 어디 있는가?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28254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→ STL 분해로 Trend 성분 확인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547872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39312"/>
            <a:ext cx="1115568" cy="237744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393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우상향 Trend 확인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91640" y="3639312"/>
            <a:ext cx="1115568" cy="237744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36393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이상치 없음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160020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1728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</a:rPr>
              <a:t>② 고객 구조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175564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6A34A">
              <a:alpha val="13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755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Phase 2·3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0" y="2075688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사용자가 실제 비즈니스를 떠받치는가?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예산을 어디에 써야 하는가?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91840" y="28254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→ RFM 세그멘테이션 분석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3547872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3639312"/>
            <a:ext cx="1115568" cy="237744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6393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9개 세그먼트 식별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80560" y="3639312"/>
            <a:ext cx="1115568" cy="237744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6393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GMV 36.6% 집중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160020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8076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0" y="1728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</a:rPr>
              <a:t>③ 바이럴 루프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772400" y="175564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4F46E5">
              <a:alpha val="13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1755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</a:rPr>
              <a:t>Phase 4·5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80760" y="2075688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수신자가 발신자로 전환되는 구조가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얼마나 효율적이고 어디서 끊기는가?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080760" y="28254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→ K-factor 분석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80760" y="3547872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3639312"/>
            <a:ext cx="1115568" cy="237744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36393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K=1.559 (&gt;1)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69480" y="3639312"/>
            <a:ext cx="1115568" cy="237744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36393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자생적 성장 가능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4370832"/>
            <a:ext cx="8412480" cy="402336"/>
          </a:xfrm>
          <a:prstGeom prst="roundRect">
            <a:avLst>
              <a:gd name="adj" fmla="val 1136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398264"/>
            <a:ext cx="8183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 발견: 2024년 GMV 75.2억원 중 상위 3개 세그먼트(유저 18.8%)가 GMV 36.6%를 담당하며, 시즌과 무관한 독립적 성장을 확인했습니다.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설계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기간: 2023-2024  |  데이터 소스: 5개 테이블  |  분석 대상: 50,000+ users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420624"/>
            <a:ext cx="1673352" cy="246888"/>
          </a:xfrm>
          <a:prstGeom prst="roundRect">
            <a:avLst>
              <a:gd name="adj" fmla="val 148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20624"/>
            <a:ext cx="1673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ANALYSIS DESIGN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76809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 End-to-End 분석 구조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1480" y="13350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의존도부터 바이럴 루프, CRM 전략까지 단계별 분석 체계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분석 완료  5 Phase  |  데이터 기반  BigQuery + Python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600200"/>
            <a:ext cx="8412480" cy="1508760"/>
          </a:xfrm>
          <a:prstGeom prst="roundRect">
            <a:avLst>
              <a:gd name="adj" fmla="val 4848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1755648"/>
            <a:ext cx="1389888" cy="1216152"/>
          </a:xfrm>
          <a:prstGeom prst="roundRect">
            <a:avLst>
              <a:gd name="adj" fmla="val 6015"/>
            </a:avLst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0704" y="1828800"/>
            <a:ext cx="402336" cy="402336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30428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</a:rPr>
              <a:t>EDA &amp; 시즌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587752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시즌 의존도 진단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2002536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84832" y="1755648"/>
            <a:ext cx="1389888" cy="1216152"/>
          </a:xfrm>
          <a:prstGeom prst="roundRect">
            <a:avLst>
              <a:gd name="adj" fmla="val 601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78608" y="1828800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57984" y="230428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</a:rPr>
              <a:t>RFM 세그멘테이션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57984" y="2587752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고가치 고객 식별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83864" y="2002536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1755648"/>
            <a:ext cx="1389888" cy="1216152"/>
          </a:xfrm>
          <a:prstGeom prst="roundRect">
            <a:avLst>
              <a:gd name="adj" fmla="val 601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96512" y="182880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75888" y="230428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</a:rPr>
              <a:t>LTV 코호트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75888" y="2587752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고객 장기 가치 산출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01768" y="2002536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20640" y="1755648"/>
            <a:ext cx="1389888" cy="1216152"/>
          </a:xfrm>
          <a:prstGeom prst="roundRect">
            <a:avLst>
              <a:gd name="adj" fmla="val 6015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14416" y="182880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14416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93792" y="230428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</a:rPr>
              <a:t>바이럴 루프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2587752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K-factor 분석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19672" y="2002536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38544" y="1755648"/>
            <a:ext cx="1389888" cy="1216152"/>
          </a:xfrm>
          <a:prstGeom prst="roundRect">
            <a:avLst>
              <a:gd name="adj" fmla="val 601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0" y="182880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11696" y="230428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</a:rPr>
              <a:t>CRM 전략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11696" y="2587752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A/B·ROAS·액션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20040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32735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2A2A"/>
                </a:solidFill>
              </a:rPr>
              <a:t>🗄  데이터 소스 (BigQuery ds-ysy.kakao_gift)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35661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🗂 orders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03120" y="35661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🗂 users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0" y="35661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0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🗂 gifts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12080" y="35661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🗂 gift_receipts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66560" y="35661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🗂 events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370832"/>
            <a:ext cx="8412480" cy="402336"/>
          </a:xfrm>
          <a:prstGeom prst="roundRect">
            <a:avLst>
              <a:gd name="adj" fmla="val 1136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398264"/>
            <a:ext cx="8183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분석 범위: 50,000명의 유저와 200,011건의 주문 데이터를 5단계로 분석하여 시즌 의존도, 고객 생애가치, 바이럴 전환율을 종합적으로 진단합니다.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Phase 1  EDA &amp; 시즌 분석  |  GMV 성장 구조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GMV: ₩75.2억  |  YoY: +29.7%  |  총 주문: 109,392건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구조 — GMV 추이 &amp; 트렌드 분해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2023-2024년 월별 GMV 추이 및 STL 분해를 통한 성장 패턴과 이상치 탐지를 진단합니다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주문: 109,392건  |  기간: 2023-2024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3" name="Image 0" descr="/sessions/wonderful-ecstatic-darwin/mnt/kakao_gift/selfmade/ppt_charts/layer1_monthly_gm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1920240"/>
          </a:xfrm>
          <a:prstGeom prst="rect">
            <a:avLst/>
          </a:prstGeom>
        </p:spPr>
      </p:pic>
      <p:pic>
        <p:nvPicPr>
          <p:cNvPr id="14" name="Image 1" descr="/sessions/wonderful-ecstatic-darwin/mnt/kakao_gift/selfmade/ppt_charts/layer1_stl_decompos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5568"/>
            <a:ext cx="4160520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301752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월별 GMV 추이 (2023-2024)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617720" y="301752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STL 분해: Trend / Seasonal / Residual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65760" y="3273552"/>
            <a:ext cx="8412480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273552"/>
            <a:ext cx="36576" cy="445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5"/>
          <p:cNvSpPr/>
          <p:nvPr/>
        </p:nvSpPr>
        <p:spPr>
          <a:xfrm>
            <a:off x="493776" y="3374136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3776" y="33741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95528" y="3374136"/>
            <a:ext cx="7845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2920" y="3685032"/>
            <a:ext cx="8211312" cy="-3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성장이 이벤트 시즌에만 의존하는 건 아닌가?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비시즌 기간에도 실질적 성장이 있는가?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65760" y="3810000"/>
            <a:ext cx="8412480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3810000"/>
            <a:ext cx="36576" cy="445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1"/>
          <p:cNvSpPr/>
          <p:nvPr/>
        </p:nvSpPr>
        <p:spPr>
          <a:xfrm>
            <a:off x="493776" y="3910584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3776" y="39105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95528" y="3910584"/>
            <a:ext cx="7845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02920" y="4221480"/>
            <a:ext cx="8211312" cy="-3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GMV ₩58.0억 84,674건 → 2024 GMV ₩75.2억 109,392건 (+29.7% YoY)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Trend: 독립 우상향 ✓  |  Seasonal: 3개 시즌 피크  |  Residual: 이상치 없음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65760" y="4346448"/>
            <a:ext cx="8412480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65760" y="4346448"/>
            <a:ext cx="36576" cy="445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7"/>
          <p:cNvSpPr/>
          <p:nvPr/>
        </p:nvSpPr>
        <p:spPr>
          <a:xfrm>
            <a:off x="493776" y="444703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3776" y="44470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95528" y="4447032"/>
            <a:ext cx="7845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02920" y="4757928"/>
            <a:ext cx="8211312" cy="-3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비시즌 CRM 투자 정당화: Trend 성분이 시즌 독립 성장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비시즌 예산 확보 근거 확립 / 연간 GMV 예측 모델 구축 가능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Phase 1  EDA &amp; 시즌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분석기간: 2022-2024  |  총 주문: 109,392건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패턴 분석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시즌별 구매 패턴 차이를 분석하여 동일한 캠페인으로 모든 시즌을 커버할 수 있는지 검증합니다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10044" y="420624"/>
            <a:ext cx="1613916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0044" y="420624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📊 GMV ₩75.2억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주문: 109,392건  |  성장률: +29.7%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1_category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20624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09160" y="11155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1115568"/>
            <a:ext cx="36576" cy="112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837176" y="12161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371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38928" y="1216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15270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시즌별 구매 패턴이 다른가?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캠페인으로 모든 시즌을 커버할 수 있나?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23347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2334768"/>
            <a:ext cx="36576" cy="1127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1"/>
          <p:cNvSpPr/>
          <p:nvPr/>
        </p:nvSpPr>
        <p:spPr>
          <a:xfrm>
            <a:off x="4837176" y="24353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37176" y="2435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38928" y="24353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46320" y="27462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주문건수 순위: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설날 7,371건 / AOV ₩128,266 → 고단가 세트 (한우·홍삼)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빼빼로데이 6,698건 / AOV ₩40,946 → 소액다량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추석 6,281건 / AOV ₩127,272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어버이날 AOV ₩132,517 (최고 단가)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09160" y="35539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9160" y="3553968"/>
            <a:ext cx="36576" cy="1127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7"/>
          <p:cNvSpPr/>
          <p:nvPr/>
        </p:nvSpPr>
        <p:spPr>
          <a:xfrm>
            <a:off x="4837176" y="36545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37176" y="3654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38928" y="36545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46320" y="39654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시즌별 전략 완전 분리: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설날·추석·어버이날: 프리미엄 큐레이션 + 고가 번들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빼빼로데이: 묶음 상품 + 업셀링 캠페인 (AOV 낮음 → 발송량 커버)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Phase 1  EDA &amp; 카테고리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분석기간: 2023-2024  |  카테고리 수: 5개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믹스 분석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GMV/주문건수 분포를 통해 특정 카테고리 의존 리스크를 정량화합니다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60920" y="420624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420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🏷 카테고리 5개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주문: 109,392건  |  성장률: +29.7%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1_category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20624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09160" y="11155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1115568"/>
            <a:ext cx="36576" cy="112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837176" y="12161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371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38928" y="1216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15270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카테고리에 지나치게 의존하는 건 아닌가?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변화에 매출이 흔들리는가?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23347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2334768"/>
            <a:ext cx="36576" cy="1127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1"/>
          <p:cNvSpPr/>
          <p:nvPr/>
        </p:nvSpPr>
        <p:spPr>
          <a:xfrm>
            <a:off x="4837176" y="24353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37176" y="2435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38928" y="24353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46320" y="27462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이벤트별 1위 카테고리 (HHI 분석):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발렌타인: 뷰티 76.7% (HHI 최고)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화이트데이: 뷰티 54.6%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설날·추석: 건강기능식품 43.7%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스승의날: 상품권 39.8%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시즌마다 지배 카테고리 완전 교체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09160" y="35539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9160" y="3553968"/>
            <a:ext cx="36576" cy="1127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7"/>
          <p:cNvSpPr/>
          <p:nvPr/>
        </p:nvSpPr>
        <p:spPr>
          <a:xfrm>
            <a:off x="4837176" y="36545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37176" y="3654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38928" y="36545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46320" y="39654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시즌별 카테고리 큐레이션 자동화: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발렌타인: 뷰티 단독 집중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설날·추석: 건강기능식품 프리미엄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스승의날: 상품권 전면 배치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빼빼로: 교차 카테고리 번들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Phase 1  발신자 행동 &amp; 바이럴 루프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분석기간: 2023-2024  |  수신→발신 전환율: 97.9%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발신자 행동 분석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수신자가 나중에 발신자가 되는가? 플랫폼의 자체 확산 구조가 EDA 단계에서 보이는가?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25996" y="420624"/>
            <a:ext cx="1997964" cy="292608"/>
          </a:xfrm>
          <a:prstGeom prst="roundRect">
            <a:avLst>
              <a:gd name="adj" fmla="val 1875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5996" y="420624"/>
            <a:ext cx="199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👥 총 사용자: 50,000명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사용자 50,000명  |  바이럴 전환 97.9%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1_user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20624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09160" y="11155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1115568"/>
            <a:ext cx="36576" cy="112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837176" y="12161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371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38928" y="1216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15270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받은 사람이 나중에 발신자가 되는가?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유저가 바이럴을 더 증폭시키는가?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23347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2334768"/>
            <a:ext cx="36576" cy="1127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1"/>
          <p:cNvSpPr/>
          <p:nvPr/>
        </p:nvSpPr>
        <p:spPr>
          <a:xfrm>
            <a:off x="4837176" y="24353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37176" y="2435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38928" y="24353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46320" y="27462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발신 빈도별 세그먼트: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충성형(4~7회) 51.2%  평균 수신자 4.95명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일반형(2~3회) 36.2%  평균 수신자 2.55명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이탈형(1회)    8.1%   평균 수신자 1.00명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헤비유저(8회+)  4.4%  평균 수신자 8.39명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수신→발신 전환율: 97.9% ★  |  선물 수락률: 82.1%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09160" y="35539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9160" y="3553968"/>
            <a:ext cx="36576" cy="1127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7"/>
          <p:cNvSpPr/>
          <p:nvPr/>
        </p:nvSpPr>
        <p:spPr>
          <a:xfrm>
            <a:off x="4837176" y="36545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37176" y="3654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38928" y="36545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46320" y="39654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헤비유저 중심 VIP 설계: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헤비유저 4.4%가 평균 8.39명 수신자 보유 → 바이럴 핵심 노드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만료(7.9%) 감소 → 수락 독려 알림 → Phase 4 K-factor 분석으로 연결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Phase 2  RFM 세그멘테이션 — 어떤 사용자가 비즈니스를 만드는가?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세그멘테이션 분석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특화 설계 포인트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🔧  도메인 특화 설계: 구매자 80%가 연 1~3회 → F 스코어를 표준 5분위 대신 4단계로 커스텀 재설계 / 6회+ 구매자 = 2.7%</a:t>
            </a:r>
            <a:endParaRPr lang="en-US" sz="950" dirty="0"/>
          </a:p>
        </p:txBody>
      </p:sp>
      <p:pic>
        <p:nvPicPr>
          <p:cNvPr id="11" name="Image 0" descr="/sessions/wonderful-ecstatic-darwin/mnt/kakao_gift/selfmade/ppt_charts/layer2_rfm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4160520" cy="1874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336499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RFM 세그먼트 분포 (산도)</a:t>
            </a:r>
            <a:endParaRPr lang="en-US" sz="850" dirty="0"/>
          </a:p>
        </p:txBody>
      </p:sp>
      <p:pic>
        <p:nvPicPr>
          <p:cNvPr id="13" name="Image 1" descr="/sessions/wonderful-ecstatic-darwin/mnt/kakao_gift/selfmade/ppt_charts/layer2_rfm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8760"/>
            <a:ext cx="4114800" cy="1874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36499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9개 RFM 세그먼트 요약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65760" y="3611880"/>
            <a:ext cx="2679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611880"/>
            <a:ext cx="36576" cy="11887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7" name="Text 13"/>
          <p:cNvSpPr/>
          <p:nvPr/>
        </p:nvSpPr>
        <p:spPr>
          <a:xfrm>
            <a:off x="493776" y="3703320"/>
            <a:ext cx="2496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</a:rPr>
              <a:t>VIP 세그먼트 전략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93776" y="3959352"/>
            <a:ext cx="2496312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Champions (3,917명 / 8.8%):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AOV ₩316,726 / GMV 16.1%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→ Lock-in: VIP 얼리 액세스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Can't Lose Them (1,305명 / 2.9%):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AOV ₩467,594 ★ (최고)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→ 즉각 15% 할인 케어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118104" y="3611880"/>
            <a:ext cx="2679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118104" y="3611880"/>
            <a:ext cx="36576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7"/>
          <p:cNvSpPr/>
          <p:nvPr/>
        </p:nvSpPr>
        <p:spPr>
          <a:xfrm>
            <a:off x="3246120" y="3703320"/>
            <a:ext cx="2496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이탈 위험 세그먼트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246120" y="3959352"/>
            <a:ext cx="2496312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At Risk (1,068명 / 2.4%):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재활성화: 10% 쿠폰 즉각 발송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Dormant (19,905명 / 44.5%):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Win-back: 신상품 알림 캠페인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→ 상위 3개 그룹 = GMV 36.6% 담당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870448" y="3611880"/>
            <a:ext cx="2679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870448" y="3611880"/>
            <a:ext cx="36576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1"/>
          <p:cNvSpPr/>
          <p:nvPr/>
        </p:nvSpPr>
        <p:spPr>
          <a:xfrm>
            <a:off x="5998464" y="3703320"/>
            <a:ext cx="2496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신규/성장 세그먼트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998464" y="3959352"/>
            <a:ext cx="2496312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Potential Loyalists (5,992명 / 13.4%):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Convert: 기념일 리마인더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New Customers (1,335명 / 3.0%):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Onboarding: 웰컴 메시지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→ Casual (8,018명): 시즌 이벤트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8" name="Shape 24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분석 대상: 44,713명 (2024년 구매자 기준)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Phase 2  GMV Pareto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분석기간: 2022-2024  |  GMV: ₩75.2억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Pareto — CRM 예산을 어디에 써야 하는가?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GMV 기여도 분석 및 CRM 예산 집중 우선순위를 도출합니다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33972" y="420624"/>
            <a:ext cx="2189988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33972" y="420624"/>
            <a:ext cx="218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상위 3개그룹 = GMV 36.6%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GMV: ₩75.2억  |  성장률: +29.7%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2_segme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1737360"/>
          </a:xfrm>
          <a:prstGeom prst="rect">
            <a:avLst/>
          </a:prstGeom>
        </p:spPr>
      </p:pic>
      <p:pic>
        <p:nvPicPr>
          <p:cNvPr id="16" name="Image 1" descr="/sessions/wonderful-ecstatic-darwin/mnt/kakao_gift/selfmade/ppt_charts/layer2_gmv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26080"/>
            <a:ext cx="4160520" cy="1828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09160" y="11155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1115568"/>
            <a:ext cx="36576" cy="112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5"/>
          <p:cNvSpPr/>
          <p:nvPr/>
        </p:nvSpPr>
        <p:spPr>
          <a:xfrm>
            <a:off x="4837176" y="12161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371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138928" y="1216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46320" y="15270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세그먼트를 동등하게 관리해야 하나?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예산 배분의 정량적 근거는?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09160" y="23347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09160" y="2334768"/>
            <a:ext cx="36576" cy="1127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1"/>
          <p:cNvSpPr/>
          <p:nvPr/>
        </p:nvSpPr>
        <p:spPr>
          <a:xfrm>
            <a:off x="4837176" y="24353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37176" y="2435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138928" y="24353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846320" y="27462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우선순위 (GMV Pareto):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Can't Lose Them: AOV ₩467,594 ★ (최고)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즉각 15% 할인 + 개인화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Champions: AOV ₩316,726 / GMV 16.1%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At Risk: 재활성화 우선 대상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3개 = 유저 18.8% → GMV 36.6%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09160" y="35539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709160" y="3553968"/>
            <a:ext cx="36576" cy="1127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7"/>
          <p:cNvSpPr/>
          <p:nvPr/>
        </p:nvSpPr>
        <p:spPr>
          <a:xfrm>
            <a:off x="4837176" y="36545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37176" y="3654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138928" y="36545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846320" y="39654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Lose Them 긴급 대응: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AOV가 Champions보다 높음에도 이탈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D+0: 개인화 메시지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D+3: 15% 할인 쿠폰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D+7: 마지막 기회 알림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Phase 3  LTV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분석기간: 2022-2024  |  LTV ₩203,169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커브 — 신규 고객 획득에 얼마까지 써도 되는가?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코호트 누적 LTV 및 CAC 상한선 산정 근거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22008" y="420624"/>
            <a:ext cx="1901952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4206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🎯 LTV:CAC = 3:1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코호트 수: 12개  |  평균 LTV: ₩203,169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3_ltv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1828800"/>
          </a:xfrm>
          <a:prstGeom prst="rect">
            <a:avLst/>
          </a:prstGeom>
        </p:spPr>
      </p:pic>
      <p:pic>
        <p:nvPicPr>
          <p:cNvPr id="16" name="Image 1" descr="/sessions/wonderful-ecstatic-darwin/mnt/kakao_gift/selfmade/ppt_charts/layer3_reten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99232"/>
            <a:ext cx="4160520" cy="16824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09160" y="11155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1115568"/>
            <a:ext cx="36576" cy="112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5"/>
          <p:cNvSpPr/>
          <p:nvPr/>
        </p:nvSpPr>
        <p:spPr>
          <a:xfrm>
            <a:off x="4837176" y="12161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371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138928" y="1216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46320" y="15270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고객 1명 획득에 얼마까지 투자해도 되는가?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상한을 데이터로 어떻게 정하는가?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09160" y="23347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09160" y="2334768"/>
            <a:ext cx="36576" cy="1127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1"/>
          <p:cNvSpPr/>
          <p:nvPr/>
        </p:nvSpPr>
        <p:spPr>
          <a:xfrm>
            <a:off x="4837176" y="24353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37176" y="2435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138928" y="24353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846320" y="27462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코호트 누적 LTV (M+N):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M+0: ₩~75,248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M+11: ₩203,169 ★ (전체 평균)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M+0 대비 약 2.7배 성장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(2024-07 이전 코호트 기준 — 관찰 기간 충분)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09160" y="35539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709160" y="3553968"/>
            <a:ext cx="36576" cy="1127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7"/>
          <p:cNvSpPr/>
          <p:nvPr/>
        </p:nvSpPr>
        <p:spPr>
          <a:xfrm>
            <a:off x="4837176" y="36545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37176" y="3654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138928" y="36545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846320" y="39654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상한선 설정: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= 3:1 (업계 표준)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수수료율 20% 가정 → 이익 LTV ₩40,634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권장 최대 CAC ≈ ₩13,500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차등 적용: Can't Lose Them &gt; Champions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Phase 3  LTV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분석기간: 2022-2024  |  보존율: 50,000명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코호트 품질 분석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유입 고객과 비시즌 유입 고객의 LTV 차이를 비교하여 시즌 마케팅 ROI를 정당화합니다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420624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420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🎯 M+11 LTV ₩203,169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분석 인원: 50,000명  |  코호트 기간: M+0 ~ M+15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3_cohort_ltv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09160" y="11155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1115568"/>
            <a:ext cx="36576" cy="112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837176" y="12161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371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38928" y="1216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15270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캠페인 유입 고객은 금방 떠나는 일회성 아닌가?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마케팅 예산 확대를 데이터로 정당화할 수 있는가?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23347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2334768"/>
            <a:ext cx="36576" cy="1127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1"/>
          <p:cNvSpPr/>
          <p:nvPr/>
        </p:nvSpPr>
        <p:spPr>
          <a:xfrm>
            <a:off x="4837176" y="24353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37176" y="2435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38928" y="24353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46320" y="27462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vs 비시즌 코호트 비교: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시즌 코호트 (1·5·11월): M+15까지 꾸준한 성장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비시즌 코호트 (6·7·8월): 동일한 성장 패턴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격차 미미 → 품질 동일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Observation Bias 주의: 격차 = 관찰 기간 차이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09160" y="3553968"/>
            <a:ext cx="40690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09160" y="3553968"/>
            <a:ext cx="36576" cy="1127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7"/>
          <p:cNvSpPr/>
          <p:nvPr/>
        </p:nvSpPr>
        <p:spPr>
          <a:xfrm>
            <a:off x="4837176" y="36545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37176" y="3654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38928" y="36545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46320" y="3965448"/>
            <a:ext cx="38679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예산 배분 전략: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유입 ≠ 일회성 고객 (장기 고객 확보 채널)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UA 예산: 시즌에 집중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CRM 예산: 연중 균등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'시즌 캠페인은 비용' → '투자'로 프레임 전환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Phase 4  K-factor &amp; 바이럴 루프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분석기간: 2022-2024  |  K-factor: 1.559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K-factor — 선물하기의 자체 바이럴 성장 엔진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후 발신 전환 구조 정량화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10044" y="420624"/>
            <a:ext cx="1613916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0044" y="420624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 &gt; 1 바이럴 성장!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바이럴 전환 유저: 22,034명  |  수신 경험 유저: 48,163명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4_kf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1115568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1133856"/>
            <a:ext cx="8183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⚠  측정 정확도 주의: 시간적 순서(Temporal Ordering) 조건 적용 — 수신 전 발신 유저 제거 → K=3.948 → 1.559 수정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1572768"/>
            <a:ext cx="4069080" cy="975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1572768"/>
            <a:ext cx="36576" cy="975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4837176" y="16733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37176" y="1673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38928" y="16733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46320" y="1984248"/>
            <a:ext cx="3867912" cy="499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선물하기 플랫폼이 자체적으로 사용자를 늘리는 구조인가?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유저가 바이럴을 더 증폭시키는가?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09160" y="2639568"/>
            <a:ext cx="4069080" cy="975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2639568"/>
            <a:ext cx="36576" cy="975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3"/>
          <p:cNvSpPr/>
          <p:nvPr/>
        </p:nvSpPr>
        <p:spPr>
          <a:xfrm>
            <a:off x="4837176" y="27401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37176" y="2740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38928" y="2740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46320" y="3051048"/>
            <a:ext cx="3867912" cy="499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K-factor = 평균수신횟수(i) × 전환율(c)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3.408 × 45.7% = 1.559 ★ (K&gt;1 → 바이럴 성장)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전체평균 K=1.559 / 자기선물 K=2.090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타인선물 K=1.515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바이럴 전환: 22,034명(44.1%)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3706368"/>
            <a:ext cx="4069080" cy="975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3706368"/>
            <a:ext cx="36576" cy="975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29"/>
          <p:cNvSpPr/>
          <p:nvPr/>
        </p:nvSpPr>
        <p:spPr>
          <a:xfrm>
            <a:off x="4837176" y="38069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37176" y="38069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38928" y="38069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846320" y="4117848"/>
            <a:ext cx="3867912" cy="499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자기선물 유저(24.7%) → 타인 전환 유도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K를 높이는 레버: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avg_invites(외부 변수) 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conversion_rate(CRM 가능)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Occasion 기반 CRM 집중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Phase 4  바이럴 루프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중앙값: 133일  |  Golden Time: D+30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상호성 &amp; Golden Time — 언제, 어떻게 발신자로 전환되는가?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횟수별 전환율 &amp; 수신 후 경과일별 재발신율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22008" y="420624"/>
            <a:ext cx="1901952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4206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D+30 Golden 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Pay-it-forward 비율: 99.4%  |  2회 수신 후 전환 delta +13.9%p 최대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4_conversion_by_re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1828800"/>
          </a:xfrm>
          <a:prstGeom prst="rect">
            <a:avLst/>
          </a:prstGeom>
        </p:spPr>
      </p:pic>
      <p:pic>
        <p:nvPicPr>
          <p:cNvPr id="16" name="Image 1" descr="/sessions/wonderful-ecstatic-darwin/mnt/kakao_gift/selfmade/ppt_charts/layer4_reciproc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15568"/>
            <a:ext cx="4160520" cy="1828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65760" y="306324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063240"/>
            <a:ext cx="36576" cy="16276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5"/>
          <p:cNvSpPr/>
          <p:nvPr/>
        </p:nvSpPr>
        <p:spPr>
          <a:xfrm>
            <a:off x="493776" y="3163824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3776" y="31638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95528" y="316382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2920" y="3474720"/>
            <a:ext cx="2450592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 번 받으면 보내는 사람이 되는가?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후 언제까지 CRM을 보내야 효과적인가?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46120" y="306324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46120" y="3063240"/>
            <a:ext cx="36576" cy="16276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1"/>
          <p:cNvSpPr/>
          <p:nvPr/>
        </p:nvSpPr>
        <p:spPr>
          <a:xfrm>
            <a:off x="3374136" y="3163824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74136" y="31638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675888" y="316382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383280" y="3474720"/>
            <a:ext cx="2450592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1회→24% / 2회→37.9%(delta +13.9%p 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3회→46% / 5회+→73%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재발신율: 7일 3.4% / 30일 12.3% / 90일 30.7%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26480" y="306324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26480" y="3063240"/>
            <a:ext cx="36576" cy="16276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7"/>
          <p:cNvSpPr/>
          <p:nvPr/>
        </p:nvSpPr>
        <p:spPr>
          <a:xfrm>
            <a:off x="6254496" y="3163824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254496" y="31638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556248" y="316382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263640" y="3474720"/>
            <a:ext cx="2450592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D+7: '받은 선물 어때요?'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D+14: '당신도 선물해보세요'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D+30: 마지막 기회 (Golden Time)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카피: '답례하세요'✗ → '당신도 누군가에게'✓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Phase 4  Occasion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미전환 비율: 63.2%  |  바이럴 1위 Occasion: 생일 24.2%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트리거 — 전환은 시간이 아닌 '계기'로 발동된다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r=0.849 / χ²=68.872, p&lt;0.0001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10044" y="420624"/>
            <a:ext cx="1613916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0044" y="420624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핵심 신규 인사이트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장기 미전환(1년+): 63.2%  |  시즌 5개월 전환 집중: 47.3%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115568"/>
            <a:ext cx="8412480" cy="402336"/>
          </a:xfrm>
          <a:prstGeom prst="roundRect">
            <a:avLst>
              <a:gd name="adj" fmla="val 1136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143000"/>
            <a:ext cx="8183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 발견: 미전환 63.2%는 '시간 부족'이 아닌 '계기(Occasion) 부재'가 원인 → Occasion 기반 CRM으로 전환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627632"/>
            <a:ext cx="4526280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627632"/>
            <a:ext cx="36576" cy="30540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" y="1728216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17282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≡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" y="1728216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Occasion별 전환 분석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4251960" cy="246888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D4ED8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D4ED8"/>
                          </a:solidFill>
                        </a:rPr>
                        <a:t>수치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D4ED8"/>
                          </a:solidFill>
                        </a:rPr>
                        <a:t>의미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바이럴 전환 1위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birthday 24.2%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개인 관계 기반 트리거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오가닉 전환 1위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birthday 23.0%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두 그룹 모두 생일 1위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시즌 5개월 집중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47.3% (기대 41.7%)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빼빼로데이 13.6% 최다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장기 미전환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63.2% (1년+)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계기 없으면 영구 미전환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양방향 상호 관계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0.6%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답례형 극소수 확인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3" name="Image 0" descr="/sessions/wonderful-ecstatic-darwin/mnt/kakao_gift/selfmade/ppt_charts/layer4_referral_gen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27632"/>
            <a:ext cx="37490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029200" y="3657600"/>
            <a:ext cx="116128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0" y="3657600"/>
            <a:ext cx="36576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2"/>
          <p:cNvSpPr/>
          <p:nvPr/>
        </p:nvSpPr>
        <p:spPr>
          <a:xfrm>
            <a:off x="5120640" y="373075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 D-30 캠페인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120640" y="4005072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"○○님 생일에 자신에게 선물" → 자기선물 K=2.090 극대화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249924" y="3657600"/>
            <a:ext cx="116128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49924" y="3657600"/>
            <a:ext cx="36576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6341364" y="373075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빼빼로데이 D-7 첫 선물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41364" y="4005072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미전환 수신자 타겟 → 63.2% 미전환자 집중 공략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470648" y="3657600"/>
            <a:ext cx="116128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470648" y="3657600"/>
            <a:ext cx="36576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0"/>
          <p:cNvSpPr/>
          <p:nvPr/>
        </p:nvSpPr>
        <p:spPr>
          <a:xfrm>
            <a:off x="7562088" y="373075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기반 CRM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562088" y="4005072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"수신 후 N일" → "Occasion 발생 시" 기반으로 전환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Phase 5  캠페인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240,662건  |  Open Rate: 53.68%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퍼널 — 어디서 고객을 잃고 있는가?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Open Rate / CVR 비교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420624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420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Open Rate 업계 평균 2.7배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총 발송: 240,662건  |  병목 구간: send → open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5_campaig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84632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394960" y="1115568"/>
            <a:ext cx="33832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1115568"/>
            <a:ext cx="36576" cy="112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5522976" y="1216152"/>
            <a:ext cx="246888" cy="246888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29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?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24728" y="1216152"/>
            <a:ext cx="2816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비즈니스 질문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32120" y="1527048"/>
            <a:ext cx="31821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 고객을 잃고 있는가?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세그먼트가 가장 반응이 좋은가?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94960" y="2334768"/>
            <a:ext cx="33832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394960" y="2334768"/>
            <a:ext cx="36576" cy="1127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1"/>
          <p:cNvSpPr/>
          <p:nvPr/>
        </p:nvSpPr>
        <p:spPr>
          <a:xfrm>
            <a:off x="5522976" y="24353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22976" y="2435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824728" y="2435352"/>
            <a:ext cx="2816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데이터 결과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32120" y="2746248"/>
            <a:ext cx="31821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퍼널: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53.68% (업계 ~20%의 2.7배)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5.78% / Block Rate 1.02%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0.53%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특이점: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 Open 55.9%★ / promising CVR 0.81%★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need_attention CTR 8.0%★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394960" y="3553968"/>
            <a:ext cx="338328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394960" y="3553968"/>
            <a:ext cx="36576" cy="1127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7"/>
          <p:cNvSpPr/>
          <p:nvPr/>
        </p:nvSpPr>
        <p:spPr>
          <a:xfrm>
            <a:off x="5522976" y="3654552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22976" y="36545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824728" y="3654552"/>
            <a:ext cx="2816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532120" y="3965448"/>
            <a:ext cx="3182112" cy="652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send→open 구간 레버리지 최대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 240,662명 × 하위 CVR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직후 CTA 강화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at_risk 세그먼트 subject line A/B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Phase 5  A/B 테스트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88개 캠페인  |  Holm-Bonferroni 보정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 — Ranking vs Curation, 무엇이 더 팔리는가?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+ 다중 검정 보정 적용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14032" y="420624"/>
            <a:ext cx="1709928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420624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p &lt; 0.0001 ★★★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curation: 140,904명  |  ranking: 77,109명  |  필요 최소: 8,158명/그룹 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5_ab_test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23317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56616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584448"/>
            <a:ext cx="8183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⚠  다중 검정 보정(Holm-Bonferroni) 적용 완료 — 88개 캠페인 검정 시 위양성 기대 4.4개 → 보정 후 제거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1115568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1115568"/>
            <a:ext cx="36576" cy="2331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7"/>
          <p:cNvSpPr/>
          <p:nvPr/>
        </p:nvSpPr>
        <p:spPr>
          <a:xfrm>
            <a:off x="4837176" y="1216152"/>
            <a:ext cx="246888" cy="2468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37176" y="1216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≡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38928" y="1216152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검정 결과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72768"/>
          <a:ext cx="3794760" cy="1737360"/>
        </p:xfrm>
        <a:graphic>
          <a:graphicData uri="http://schemas.openxmlformats.org/drawingml/2006/table">
            <a:tbl>
              <a:tblPr/>
              <a:tblGrid>
                <a:gridCol w="948690"/>
                <a:gridCol w="948690"/>
                <a:gridCol w="948690"/>
                <a:gridCol w="94869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지표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Ranking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Curation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CTR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15.16%★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5.65%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Ranking 우세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CVR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4.23%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12.73%★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Curation 우세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Block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1.44%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0.76%★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Curation 우세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결론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CTR KPI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ROAS KPI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목적별 선택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4709160" y="3566160"/>
            <a:ext cx="40690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09160" y="3566160"/>
            <a:ext cx="36576" cy="11247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2"/>
          <p:cNvSpPr/>
          <p:nvPr/>
        </p:nvSpPr>
        <p:spPr>
          <a:xfrm>
            <a:off x="4837176" y="3666744"/>
            <a:ext cx="246888" cy="246888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37176" y="366674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▲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138928" y="3666744"/>
            <a:ext cx="3502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실행 제언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846320" y="39776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KPI → Ranking  |  ROAS KPI → Curation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Curation: CVR 12.73%, Block 낮음 → 수익성 우위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세그먼트 목적에 따라 메시지 타입 분리 적용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Phase 5  ROAS 분석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ROAS: 2,595배  |  총 GMV: ₩6.02억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시뮬레이션 — 캠페인 예산 승인 근거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비용 15원/건 기준  |  K-factor=1.559 반영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06056" y="420624"/>
            <a:ext cx="1517904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06056" y="420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최소 ROAS 455배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전체 예상 GMV: ₩6.02억  |  모든 시나리오에서 ROAS &gt; 100배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5_roas_sim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2103120"/>
          </a:xfrm>
          <a:prstGeom prst="rect">
            <a:avLst/>
          </a:prstGeom>
        </p:spPr>
      </p:pic>
      <p:pic>
        <p:nvPicPr>
          <p:cNvPr id="16" name="Image 1" descr="/sessions/wonderful-ecstatic-darwin/mnt/kakao_gift/selfmade/ppt_charts/layer5_roas_sensi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10128"/>
            <a:ext cx="4160520" cy="1371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09160" y="1115568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846320" y="118872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858000" y="118872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2,595배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846320" y="155448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15원/건 기준 · K=1.559 반영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09160" y="201168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846320" y="208483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858000" y="2084832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1,261배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846320" y="245059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15원/건 기준 · K=1.559 반영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709160" y="2907792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846320" y="2980944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858000" y="2980944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1,186배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4846320" y="334670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15원/건 기준 · K=1.559 반영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709160" y="3803904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846320" y="387705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Hibernating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858000" y="3877056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455배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4846320" y="4242816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15원/건 기준 · K=1.559 반영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65760" y="4681728"/>
            <a:ext cx="8412480" cy="402336"/>
          </a:xfrm>
          <a:prstGeom prst="roundRect">
            <a:avLst>
              <a:gd name="adj" fmla="val 1136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" y="4709160"/>
            <a:ext cx="8183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모든 비용 시나리오(10원/15원/20원)에서 순위 불변 → Champions를 최우선 집중 대상으로 확정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Phase 5  CRM 전략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캠페인  |  총 예상 GMV: ₩1.27억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액션 플랜 — 어떤 세그먼트에 무슨 메시지를 언제?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× 메시지 타입 CVR 히트맵 기반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60920" y="420624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420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즉시 실행 가능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Champions 3,917명  |  At Risk 3,755명  |  Occasion 타겟: 63.2% 미전환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5_segment_message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09160" y="1115568"/>
            <a:ext cx="4069080" cy="1097280"/>
          </a:xfrm>
          <a:prstGeom prst="rect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18888" y="1179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1: VIP 로열티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18888" y="14447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3,917명  |  예상수익 56.0백만원  ROAS 2,595배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18888" y="16733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"당신도 누군가에게 선물해보세요" (curation + pay-it-forward)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18888" y="1938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채널: 친구톡  |  타이밍: 수신 후 D+30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09160" y="2331720"/>
            <a:ext cx="406908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18888" y="2395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2: 재활성화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18888" y="26609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3,755명  |  예상수익 71.0백만원  ROAS 1,261배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18888" y="2889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"오랜만이에요, 소중한 분 챙겨드리지 않으셨나요?" (감성 넛지)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18888" y="3154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채널: 알림톡  |  타이밍: 마지막 구매 D+7/14/30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09160" y="3547872"/>
            <a:ext cx="4069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18888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3: Occasion 트리거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18888" y="38770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미전환 63.2% + 전 세그먼트  |  빼빼로데이 1.7× GMV 확장 효과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18888" y="4105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"아직 선물 안 해보셨나요? 빼빼로데이에 처음 선물해보세요"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18888" y="4370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채널: 알림톡  |  타이밍: Pepero Day D-7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Phase 5  캠페인 전략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vs 비시즌 분리 운영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캠페인 전략 — 시즌 vs 비시즌 분리 운영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시즌별 퍼널 지표 비교 기반 이원화 전략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60920" y="420624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420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A"/>
                </a:solidFill>
              </a:rPr>
              <a:t>이원화 전략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데이터 한계: 88개 캠페인 전체 시즌성 분류 → Phase 1 GMV 1.7배 효과로 검증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pic>
        <p:nvPicPr>
          <p:cNvPr id="15" name="Image 0" descr="/sessions/wonderful-ecstatic-darwin/mnt/kakao_gift/selfmade/ppt_charts/layer5_seasonal_vs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160520" cy="2606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09160" y="1115568"/>
            <a:ext cx="4069080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18888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시즌 캠페인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18888" y="149961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대량 도달, 높은 Open 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메시지: Ranking (인기 상품)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타이밍: 이벤트 D-7 ~ D-1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광범위 신규 유입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Block Rate 높아짐 — 트레이드오프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505456"/>
            <a:ext cx="4069080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18888" y="2578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비시즌 캠페인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18888" y="288950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전환율 극대화 (CVR)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메시지: Curation + Occasion 트리거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타이밍: Golden Time(D+30) + 생일 D-30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기존 사용자 재활성화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캠페인 1건당 ROI 극대화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4370832"/>
            <a:ext cx="8412480" cy="402336"/>
          </a:xfrm>
          <a:prstGeom prst="roundRect">
            <a:avLst>
              <a:gd name="adj" fmla="val 1136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398264"/>
            <a:ext cx="8183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빼빼로데이 GMV = 비시즌 대비 1.7배 → 시즌 선점(D-7)이 연간 GMV의 가장 큰 레버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 요약 — 5 Phase 비즈니스 임팩트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00200" cy="38404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600200" cy="4572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149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435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A2A2A"/>
                </a:solidFill>
              </a:rPr>
              <a:t>EDA &amp; 시즌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417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+29.7% YoY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독립 성장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수락률 82.1%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1417320" cy="0"/>
          </a:xfrm>
          <a:prstGeom prst="line">
            <a:avLst/>
          </a:prstGeom>
          <a:noFill/>
          <a:ln w="12700">
            <a:solidFill>
              <a:srgbClr val="FFE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06908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비시즌 CRM 투자 정당화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960120"/>
            <a:ext cx="1600200" cy="3840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960120"/>
            <a:ext cx="1600200" cy="4572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149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12435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A2A2A"/>
                </a:solidFill>
              </a:rPr>
              <a:t>RFM 세그멘테이션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1508760"/>
            <a:ext cx="1417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Lose AOV ₩467,594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3개 = GMV 36.6%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44,713명 분석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3931920"/>
            <a:ext cx="1417320" cy="0"/>
          </a:xfrm>
          <a:prstGeom prst="line">
            <a:avLst/>
          </a:prstGeom>
          <a:noFill/>
          <a:ln w="12700">
            <a:solidFill>
              <a:srgbClr val="FFE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406908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집중 우선순위 확정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960120"/>
            <a:ext cx="1600200" cy="3840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960120"/>
            <a:ext cx="1600200" cy="4572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0149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12435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LTV 코호트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0" y="1508760"/>
            <a:ext cx="1417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M+11 LTV ₩203,169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시즌=비시즌 품질 동일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CAC ≈ ₩13,500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0" y="3931920"/>
            <a:ext cx="1417320" cy="0"/>
          </a:xfrm>
          <a:prstGeom prst="line">
            <a:avLst/>
          </a:prstGeom>
          <a:noFill/>
          <a:ln w="12700">
            <a:solidFill>
              <a:srgbClr val="FFE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406908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상한 &amp; UA 예산 근거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960120"/>
            <a:ext cx="1600200" cy="3840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960120"/>
            <a:ext cx="1600200" cy="4572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0149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12435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바이럴 루프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77840" y="1508760"/>
            <a:ext cx="1417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K=1.559 (K&gt;1)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63.2% 미전환=Occasion 부재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 1위 24.2%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77840" y="3931920"/>
            <a:ext cx="1417320" cy="0"/>
          </a:xfrm>
          <a:prstGeom prst="line">
            <a:avLst/>
          </a:prstGeom>
          <a:noFill/>
          <a:ln w="12700">
            <a:solidFill>
              <a:srgbClr val="FFE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406908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바이럴 자동화 파이프라인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960120"/>
            <a:ext cx="1600200" cy="3840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960120"/>
            <a:ext cx="1600200" cy="4572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10149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23760" y="12435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CRM 전략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00" y="1508760"/>
            <a:ext cx="1417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ROAS 2,595배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GMV ₩6.02억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CVR 12.73%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15200" y="3931920"/>
            <a:ext cx="1417320" cy="0"/>
          </a:xfrm>
          <a:prstGeom prst="line">
            <a:avLst/>
          </a:prstGeom>
          <a:noFill/>
          <a:ln w="12700">
            <a:solidFill>
              <a:srgbClr val="FFE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406908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CRM 즉시 실행 가능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다음 단계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분석을 실행으로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— 분석을 실행으로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Phase 발견을 실행 가능한 액션으로 전환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우선순위: 높음=즉시 실행  |  중간=Q2 내  |  낮음=H2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11556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115568"/>
            <a:ext cx="45720" cy="17190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2070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Occasion 파이프라인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157276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발견 → 즉시 실행 가능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 D-30 자동 트리거 시스템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후 D+7/14/30 자동 넛지 시퀀스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5420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우선순위: 높음  |  난이도: 중간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11556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15568"/>
            <a:ext cx="45720" cy="17190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2070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세그먼트 자동 업데이트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10912" y="157276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1회 RFM 재계산 (REF_DATE 갱신)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이탈 감지 알럿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Lose Them → 즉각 케어 트리거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10912" y="25420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우선순위: 높음  |  난이도: 낮음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9008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90088"/>
            <a:ext cx="45720" cy="1719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0815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멀티암 A/B 고도화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" y="344728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현재: Ranking vs Curation 이분법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Hybrid 멀티암 테스트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(CTR목적 Ranking + CVR목적 Curation)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" y="44165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우선순위: 중간  |  난이도: 중간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99008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90088"/>
            <a:ext cx="45720" cy="17190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30815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인과추론 도입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344728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현재: 상관관계 분석 위주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DiD, IV, RDD 등 인과추론 적용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'Occasion이 전환의 원인이다' 검증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10912" y="44165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우선순위: 중간  |  난이도: 높음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64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500"/>
                </a:solidFill>
              </a:rPr>
              <a:t>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0624" y="27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분석 한계 &amp; 개선 방향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27432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솔직한 자기 평가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한계 &amp; 개선 방향 — 솔직한 자기 평가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서비스라면 보완할 점을 명확히 인식하고 있습니다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8737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합성 데이터 사용  |  K-factor·Occasion 비율은 실데이터 검증 필요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487375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⬤ 2024년 기준 데이터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11556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115568"/>
            <a:ext cx="45720" cy="17190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2070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합성 데이터 사용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152704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실제 분포와 다를 수 있음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K-factor, Occasion 비율은 실데이터 검증 필요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2231136"/>
            <a:ext cx="3886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2860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개선: 실제 로그 데이터 + A/B 실험군 분리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유효 범위 내 인사이트는 충분히 검증됨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1556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15568"/>
            <a:ext cx="45720" cy="17190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12070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인과관계 미검증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152704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상관관계만 분석 (r=0.849는 인과 아님)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'Occasion이 원인이다'는 아직 가설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10912" y="2231136"/>
            <a:ext cx="3886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22860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개선: DiD(이중차분법), IV(도구변수),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RDD(회귀불연속) 적용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99008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90088"/>
            <a:ext cx="45720" cy="17190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3081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K-factor 측정 한계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340156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추천 경로 추적 데이터 불완전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바이럴 vs 오가닉 완전 분리 어려움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" y="4105656"/>
            <a:ext cx="3886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1605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개선: Attribution 모델 + 링크 트래킹 도입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바이럴 경로 추적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990088"/>
            <a:ext cx="42062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990088"/>
            <a:ext cx="45720" cy="17190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3081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세그먼트 경계 임의 설정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40156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F 4단계 경계값 데이터 기반이지만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검증 미완료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10912" y="4105656"/>
            <a:ext cx="3886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1605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개선: 비즈니스팀과 협업해 경계값 재정의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테스트로 세그먼트 효과 검증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2026-04-09T05:51:07Z</dcterms:created>
  <dcterms:modified xsi:type="dcterms:W3CDTF">2026-04-09T05:51:07Z</dcterms:modified>
</cp:coreProperties>
</file>